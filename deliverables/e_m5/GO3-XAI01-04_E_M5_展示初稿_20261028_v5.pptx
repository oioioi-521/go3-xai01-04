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ddd11469844ac0" /><Relationship Type="http://schemas.openxmlformats.org/officeDocument/2006/relationships/extended-properties" Target="/docProps/app.xml" Id="R5801cd1c5fa64a55" /><Relationship Type="http://schemas.openxmlformats.org/officeDocument/2006/relationships/officeDocument" Target="/ppt/presentation.xml" Id="Rf813c753eeaf41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1247870f314cbb"/>
  </p:sldMasterIdLst>
  <p:notesMasterIdLst>
    <p:notesMasterId xmlns:r="http://schemas.openxmlformats.org/officeDocument/2006/relationships" r:id="R56c5f9e347854211"/>
  </p:notesMasterIdLst>
  <p:sldIdLst>
    <p:sldId xmlns:r="http://schemas.openxmlformats.org/officeDocument/2006/relationships" id="256" r:id="R0909e323652f43e9"/>
    <p:sldId xmlns:r="http://schemas.openxmlformats.org/officeDocument/2006/relationships" id="257" r:id="Rd20220ede2dd47cd"/>
    <p:sldId xmlns:r="http://schemas.openxmlformats.org/officeDocument/2006/relationships" id="258" r:id="R70f313e849ce4bd5"/>
    <p:sldId xmlns:r="http://schemas.openxmlformats.org/officeDocument/2006/relationships" id="259" r:id="Re9b580524cd248fa"/>
    <p:sldId xmlns:r="http://schemas.openxmlformats.org/officeDocument/2006/relationships" id="260" r:id="Rd2e3e20e30544b79"/>
    <p:sldId xmlns:r="http://schemas.openxmlformats.org/officeDocument/2006/relationships" id="261" r:id="R7699da3093f84f8a"/>
    <p:sldId xmlns:r="http://schemas.openxmlformats.org/officeDocument/2006/relationships" id="262" r:id="Re1fdb7dc96e84985"/>
    <p:sldId xmlns:r="http://schemas.openxmlformats.org/officeDocument/2006/relationships" id="263" r:id="Rdf4550a1bff64d3e"/>
    <p:sldId xmlns:r="http://schemas.openxmlformats.org/officeDocument/2006/relationships" id="264" r:id="R1b6207959eee4f93"/>
    <p:sldId xmlns:r="http://schemas.openxmlformats.org/officeDocument/2006/relationships" id="265" r:id="R0573fe7802394798"/>
    <p:sldId xmlns:r="http://schemas.openxmlformats.org/officeDocument/2006/relationships" id="266" r:id="R012aaaeacb1543b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7c7dc425904bbf" /><Relationship Type="http://schemas.openxmlformats.org/officeDocument/2006/relationships/slideMaster" Target="/ppt/slideMasters/slideMaster1.xml" Id="R9c1247870f314cbb" /><Relationship Type="http://schemas.openxmlformats.org/officeDocument/2006/relationships/notesMaster" Target="/ppt/notesMasters/notesMaster1.xml" Id="R56c5f9e347854211" /><Relationship Type="http://schemas.openxmlformats.org/officeDocument/2006/relationships/presProps" Target="/ppt/presProps.xml" Id="R0b9b4aa31d554e84" /><Relationship Type="http://schemas.openxmlformats.org/officeDocument/2006/relationships/tableStyles" Target="/ppt/tableStyles.xml" Id="Rc5a43f34562c4119" /><Relationship Type="http://schemas.openxmlformats.org/officeDocument/2006/relationships/slide" Target="/ppt/slides/slide1.xml" Id="R0909e323652f43e9" /><Relationship Type="http://schemas.openxmlformats.org/officeDocument/2006/relationships/slide" Target="/ppt/slides/slide2.xml" Id="Rd20220ede2dd47cd" /><Relationship Type="http://schemas.openxmlformats.org/officeDocument/2006/relationships/slide" Target="/ppt/slides/slide3.xml" Id="R70f313e849ce4bd5" /><Relationship Type="http://schemas.openxmlformats.org/officeDocument/2006/relationships/slide" Target="/ppt/slides/slide4.xml" Id="Re9b580524cd248fa" /><Relationship Type="http://schemas.openxmlformats.org/officeDocument/2006/relationships/slide" Target="/ppt/slides/slide5.xml" Id="Rd2e3e20e30544b79" /><Relationship Type="http://schemas.openxmlformats.org/officeDocument/2006/relationships/slide" Target="/ppt/slides/slide6.xml" Id="R7699da3093f84f8a" /><Relationship Type="http://schemas.openxmlformats.org/officeDocument/2006/relationships/slide" Target="/ppt/slides/slide7.xml" Id="Re1fdb7dc96e84985" /><Relationship Type="http://schemas.openxmlformats.org/officeDocument/2006/relationships/slide" Target="/ppt/slides/slide8.xml" Id="Rdf4550a1bff64d3e" /><Relationship Type="http://schemas.openxmlformats.org/officeDocument/2006/relationships/slide" Target="/ppt/slides/slide9.xml" Id="R1b6207959eee4f93" /><Relationship Type="http://schemas.openxmlformats.org/officeDocument/2006/relationships/slide" Target="/ppt/slides/slide10.xml" Id="R0573fe7802394798" /><Relationship Type="http://schemas.openxmlformats.org/officeDocument/2006/relationships/slide" Target="/ppt/slides/slide11.xml" Id="R012aaaeacb1543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e0ffe169e142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15b3c69b2c458e" /><Relationship Type="http://schemas.openxmlformats.org/officeDocument/2006/relationships/notesMaster" Target="/ppt/notesMasters/notesMaster1.xml" Id="R2356160a988342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8188fa75ff14ca0" /><Relationship Type="http://schemas.openxmlformats.org/officeDocument/2006/relationships/notesMaster" Target="/ppt/notesMasters/notesMaster1.xml" Id="Re042fd00ff8f4d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d6b29060b34b85" /><Relationship Type="http://schemas.openxmlformats.org/officeDocument/2006/relationships/notesMaster" Target="/ppt/notesMasters/notesMaster1.xml" Id="R4c214921d7034b0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a19ef830a7a4b73" /><Relationship Type="http://schemas.openxmlformats.org/officeDocument/2006/relationships/notesMaster" Target="/ppt/notesMasters/notesMaster1.xml" Id="R513d4cf7cf4042b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96a735fccdf4367" /><Relationship Type="http://schemas.openxmlformats.org/officeDocument/2006/relationships/notesMaster" Target="/ppt/notesMasters/notesMaster1.xml" Id="Rd6e336d9ea524d2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b78073952b740d1" /><Relationship Type="http://schemas.openxmlformats.org/officeDocument/2006/relationships/notesMaster" Target="/ppt/notesMasters/notesMaster1.xml" Id="R2bb5f930b5344be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8f8471f16d847f9" /><Relationship Type="http://schemas.openxmlformats.org/officeDocument/2006/relationships/notesMaster" Target="/ppt/notesMasters/notesMaster1.xml" Id="R451d777be9b74b2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ce44ad6e3b24932" /><Relationship Type="http://schemas.openxmlformats.org/officeDocument/2006/relationships/notesMaster" Target="/ppt/notesMasters/notesMaster1.xml" Id="Rf86cdaa693d4477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e7a6277f8f642dc" /><Relationship Type="http://schemas.openxmlformats.org/officeDocument/2006/relationships/notesMaster" Target="/ppt/notesMasters/notesMaster1.xml" Id="Rc136aa28beff42a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9e91866a6ae463d" /><Relationship Type="http://schemas.openxmlformats.org/officeDocument/2006/relationships/notesMaster" Target="/ppt/notesMasters/notesMaster1.xml" Id="R92158bba013b496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7486a6e58b4428d" /><Relationship Type="http://schemas.openxmlformats.org/officeDocument/2006/relationships/notesMaster" Target="/ppt/notesMasters/notesMaster1.xml" Id="R80afbbee02bf44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本稿复用 D 在 2026-10-15 的正式 36 单元六方法统计。地图示例来自 dcu_cases_voc_resnet50_215_3803_7612.zip，SHA-256 a46fa18f447e104fc707451de4a03e8b2c2eb56679c15a675f6cc5aaacde9eb3；共 18 张归档 PNG 预览及 provenance sidecar，逐项来源哈希见 demo/cases.json。展示候选为 215、3803、7612，B 尚未最终确认选图。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36 单元 = 2 数据集 × 3 CNN × 6 方法；每单元 460 张 eval。主分析 model_correct 样本量为 ImageNet 408/371/363、VOC 387/388/400（ResNet50/DenseNet121/VGG16）。跨模型按 common_correct 332/353 张。来源：docs/DCU_STATISTICAL_ANALYSIS_20261015.md。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图源 analysis/dcu_20261015/six_method_means.png。主分析是各模型 model_correct 子集；图中 95% 区间是条件于类别和命中组的边际均值区间，不是标准差。AUC 在五组由 IG 均值最低；ImageNet/DenseNet121 例外，KernelSHAP 0.05013、IG 0.05325，均值差 CI 跨零。RISE 稳定性六组均值最高。wrapper time 来自共享负载两轮，不能作为受控跨 GPU 加速排名。来源：docs/DCU_STATISTICAL_ANALYSIS_20261015.md。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图源 analysis/dcu_20261015/quality_pareto.png。填充点代表双目标质量前沿，叉号质量支配；外环是加入本批次记录耗时后的三目标前沿。前沿按均值计算，不是显著性检验。来源：docs/D_TO_E_HANDOFF_20261016.md；docs/DCU_STATISTICAL_ANALYSIS_20261015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图源为 analysis/dcu_20261015/paired_quality_effects.png 的 VOC 面板裁切。正值偏向行方法；星号对应 180 项质量比较族中的 Holm 校正，统计的是配对秩，不可解释为均值显著差。IG 的 AUC 均值在 ResNet50 / VGG16 更低；DenseNet121 的均值差 CI 跨零。 完整方法和口径见 docs/DCU_STATISTICAL_ANALYSIS_20261015.md。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图源为 analysis/dcu_20261015/paired_quality_effects.png 的 VOC 面板裁切。正值偏向行方法；星号对应 180 项质量比较族中的 Holm 校正，统计的是配对秩，不可解释为均值显著差。IG 在三种模型的 AUC 均值均最低，但质量与稳定性仍要分开报告。 完整方法和口径见 docs/DCU_STATISTICAL_ANALYSIS_20261015.md。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图源 analysis/dcu_20261015/faithfulness_stability_correlation.png。每个方法/模型/数据集内做相关分析，Pearson 和 Spearman 共 216 端点同族 Holm；此处展示 Spearman。正 rho 表示更大（更差）AUC 伴随更高稳定性。来源：docs/DCU_STATISTICAL_ANALYSIS_20261015.md。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正式 LIME 设置取 handoff 内 VOC/ResNet50 shard 配置：8,000 masks，batch32，sampling seed 42，Quickshift seed42，kernel_size4、max_dist200、ratio0.2、sigma0、convert2lab，exponential kernel width0.25，cosine distance，sample-weighted Ridge alpha1，cholesky，no feature selection；目标来自 metadata ground truth；输出 map CPU float32。稳定性按 RGB [0,1] Gaussian sigma0.005，5 repeats。统计结果是 model_correct n=387：raw AUC .52481，Spearman .76451，wrapper time 4218.50 ms。固定预算不等于收敛。来源：交接 ZIP configs/lime/lime-resnet50-voc__*/unit.yaml 与 protocol.yaml；docs/DCU_STATISTICAL_ANALYSIS_20261015.md；本页时间为共享 DCU 本批次记录，不做硬件效率解释。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三例都在冻结 predictions.csv 的 VOC / ResNet50 / eval / model_correct cohort。ID 215 是六方法指标名次的中心画像；3803 是 raw MoRF AUC 与稳定性名次分歧较大；7612 是正确组最低置信度。输入原图来自 data_share_v1(1).zip。地图包 dcu_cases_voc_resnet50_215_3803_7612.zip，SHA-256 a46fa18f447e104fc707451de4a03e8b2c2eb56679c15a675f6cc5aaacde9eb3；18 张 224x224 灰度 PNG、NPY、sidecar 与配置/协议哈希均已核验。PNG 是预览，定量值来自 float32 NPY。B 尚未复核候选。逐图指标和配置见 deliverables/e_m5/case_candidates.csv、demo/cases.json。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本页是候选 image_id 215（VOC eval，真值 cat/7，ResNet50）的六方法正式 PNG 预览。统计指标沿用冻结逐图结果，不在本页重算；归档展示 PNG 为 224x224 grayscale，定量地图为 float32 NPY。来源包 dcu_cases_voc_resnet50_215_3803_7612.zip SHA-256 a46fa18f447e104fc707451de4a03e8b2c2eb56679c15a675f6cc5aaacde9eb3；每张 PNG、NPY、provenance sidecar、configuration、protocol、stability configuration 与 source archive hash 在 demo/cases.json。候选尚待 B 最终复核。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结论来源：docs/DCU_STATISTICAL_ANALYSIS_20261015.md 与 docs/D_TO_E_HANDOFF_20261016.md。限制：记录耗时来自共享负载两轮；VOC 是单目标 sigmoid argmax；LIME 8000 是固定预算而非收敛证明；Grad-CAM 退化 trace 按冻结方案保留计 0；没有完成三因素交互 ANOVA。E 已核验并接入 18 张案例预览和哈希；B 尚需最终复核 3 个候选，C 尚需独立交付环境检查。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c63e98df5f419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35c0772a374ee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8467b359ea47d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4a036d6f9a472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7758ebf1584b4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cfe4c839134d0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143BA5E-0118-4BC3-B6BC-307D75A801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D841D17-5014-4019-A742-725F540EDFC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D94897E-3A0E-47C7-A1C1-04BE74817F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F9CD5DD-340D-4C43-8269-E0167BC611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CE3F2E6-0607-40DB-861C-58CBA83D8B3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377F801-E8E3-44CF-913C-9F6912CBCC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86A63AE-0ED0-44EA-AC79-0955641556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113B1A0-D2CF-4D75-88DC-6047EDEEAD2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26A4344-139F-4CB3-B84F-A8463BADD2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7A3F64C-ED0A-4039-91BB-DB880FF419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95f8c4ad6a24f07" /><Relationship Type="http://schemas.openxmlformats.org/officeDocument/2006/relationships/slideLayout" Target="/ppt/slideLayouts/slideLayout1.xml" Id="R7bcacb2793f04405" /><Relationship Type="http://schemas.openxmlformats.org/officeDocument/2006/relationships/slideLayout" Target="/ppt/slideLayouts/slideLayout2.xml" Id="R33394012edef41a6" /><Relationship Type="http://schemas.openxmlformats.org/officeDocument/2006/relationships/slideLayout" Target="/ppt/slideLayouts/slideLayout3.xml" Id="Rb3376307b55a41e2" /><Relationship Type="http://schemas.openxmlformats.org/officeDocument/2006/relationships/slideLayout" Target="/ppt/slideLayouts/slideLayout4.xml" Id="Rffd896c4e50f4d23" /><Relationship Type="http://schemas.openxmlformats.org/officeDocument/2006/relationships/slideLayout" Target="/ppt/slideLayouts/slideLayout5.xml" Id="Rc3b54900080e4d54" /><Relationship Type="http://schemas.openxmlformats.org/officeDocument/2006/relationships/slideLayout" Target="/ppt/slideLayouts/slideLayout6.xml" Id="Rd5647852794b4b4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bcacb2793f04405"/>
    <p:sldLayoutId xmlns:r="http://schemas.openxmlformats.org/officeDocument/2006/relationships" id="2147483650" r:id="R33394012edef41a6"/>
    <p:sldLayoutId xmlns:r="http://schemas.openxmlformats.org/officeDocument/2006/relationships" id="2147483651" r:id="Rb3376307b55a41e2"/>
    <p:sldLayoutId xmlns:r="http://schemas.openxmlformats.org/officeDocument/2006/relationships" id="2147483652" r:id="Rffd896c4e50f4d23"/>
    <p:sldLayoutId xmlns:r="http://schemas.openxmlformats.org/officeDocument/2006/relationships" id="2147483653" r:id="Rc3b54900080e4d54"/>
    <p:sldLayoutId xmlns:r="http://schemas.openxmlformats.org/officeDocument/2006/relationships" id="2147483654" r:id="Rd5647852794b4b4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47890df5124946" /><Relationship Type="http://schemas.openxmlformats.org/officeDocument/2006/relationships/notesSlide" Target="/ppt/notesSlides/notesSlide1.xml" Id="R2352ec528749493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a4f0dd05f543e6" /><Relationship Type="http://schemas.openxmlformats.org/officeDocument/2006/relationships/notesSlide" Target="/ppt/notesSlides/notesSlide2.xml" Id="R163fc4381a654b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e9d41c70874f40" /><Relationship Type="http://schemas.openxmlformats.org/officeDocument/2006/relationships/image" Target="/ppt/media/image.png" Id="Rfa3d1269f8584a5b" /><Relationship Type="http://schemas.openxmlformats.org/officeDocument/2006/relationships/notesSlide" Target="/ppt/notesSlides/notesSlide3.xml" Id="Ra37e249e35d84f1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b5522612574795" /><Relationship Type="http://schemas.openxmlformats.org/officeDocument/2006/relationships/image" Target="/ppt/media/image2.png" Id="R8e530e25d1c747be" /><Relationship Type="http://schemas.openxmlformats.org/officeDocument/2006/relationships/notesSlide" Target="/ppt/notesSlides/notesSlide4.xml" Id="Rf9bb94771eae4f9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460ab2def641cf" /><Relationship Type="http://schemas.openxmlformats.org/officeDocument/2006/relationships/image" Target="/ppt/media/image3.png" Id="R75711907b93d4f9d" /><Relationship Type="http://schemas.openxmlformats.org/officeDocument/2006/relationships/notesSlide" Target="/ppt/notesSlides/notesSlide5.xml" Id="R0fbb321022cc49c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b88b3a58f94874" /><Relationship Type="http://schemas.openxmlformats.org/officeDocument/2006/relationships/image" Target="/ppt/media/image4.png" Id="Ref62f2ff792b468e" /><Relationship Type="http://schemas.openxmlformats.org/officeDocument/2006/relationships/notesSlide" Target="/ppt/notesSlides/notesSlide6.xml" Id="Rad730f55b60e409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1a9b0f9e214cd0" /><Relationship Type="http://schemas.openxmlformats.org/officeDocument/2006/relationships/image" Target="/ppt/media/image5.png" Id="R0f42731453b74c55" /><Relationship Type="http://schemas.openxmlformats.org/officeDocument/2006/relationships/notesSlide" Target="/ppt/notesSlides/notesSlide7.xml" Id="R8bbf36e08dae473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e6a42d72904f3f" /><Relationship Type="http://schemas.openxmlformats.org/officeDocument/2006/relationships/notesSlide" Target="/ppt/notesSlides/notesSlide8.xml" Id="Raffed52f53d244a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f00d6ccd2c47b7" /><Relationship Type="http://schemas.openxmlformats.org/officeDocument/2006/relationships/image" Target="/ppt/media/image.jpeg" Id="Rc1837596b1a34c2f" /><Relationship Type="http://schemas.openxmlformats.org/officeDocument/2006/relationships/image" Target="/ppt/media/image2.jpeg" Id="R38ce1934c15946ef" /><Relationship Type="http://schemas.openxmlformats.org/officeDocument/2006/relationships/image" Target="/ppt/media/image3.jpeg" Id="R0d5f09e0b6094ab5" /><Relationship Type="http://schemas.openxmlformats.org/officeDocument/2006/relationships/notesSlide" Target="/ppt/notesSlides/notesSlide9.xml" Id="Rcd3cbfa8a8cf437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24f4f09873457e" /><Relationship Type="http://schemas.openxmlformats.org/officeDocument/2006/relationships/image" Target="/ppt/media/image4.jpeg" Id="Ra6eff4566930481c" /><Relationship Type="http://schemas.openxmlformats.org/officeDocument/2006/relationships/image" Target="/ppt/media/image6.png" Id="R9c65f923871241c3" /><Relationship Type="http://schemas.openxmlformats.org/officeDocument/2006/relationships/image" Target="/ppt/media/image7.png" Id="R1e911d4651684db0" /><Relationship Type="http://schemas.openxmlformats.org/officeDocument/2006/relationships/image" Target="/ppt/media/image8.png" Id="R7f62782dd8b64862" /><Relationship Type="http://schemas.openxmlformats.org/officeDocument/2006/relationships/image" Target="/ppt/media/image9.png" Id="R71005672cd004d94" /><Relationship Type="http://schemas.openxmlformats.org/officeDocument/2006/relationships/image" Target="/ppt/media/image10.png" Id="R185c04bf438a4d94" /><Relationship Type="http://schemas.openxmlformats.org/officeDocument/2006/relationships/image" Target="/ppt/media/image11.png" Id="R8939c433c9f24189" /><Relationship Type="http://schemas.openxmlformats.org/officeDocument/2006/relationships/notesSlide" Target="/ppt/notesSlides/notesSlide10.xml" Id="R4e5526ad96e0403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9118667b794909" /><Relationship Type="http://schemas.openxmlformats.org/officeDocument/2006/relationships/notesSlide" Target="/ppt/notesSlides/notesSlide11.xml" Id="Rc712719b7c6d444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9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DFF752-6644-46DD-98AA-95196B23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01D14C-1F65-4308-B02B-2BCDF9DD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010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6C5652-D097-41A9-BCE4-36956EBA6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47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 i="0">
                <a:solidFill>
                  <a:srgbClr val="8BE2D5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00" b="1" i="0">
                <a:solidFill>
                  <a:srgbClr val="8BE2D5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00" b="1" i="0">
                <a:solidFill>
                  <a:srgbClr val="8BE2D5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00" b="1" i="0">
                <a:solidFill>
                  <a:srgbClr val="8BE2D5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00" b="1" i="0">
                <a:solidFill>
                  <a:srgbClr val="8BE2D5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00" b="1" i="0">
                <a:solidFill>
                  <a:srgbClr val="8BE2D5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00" b="1" i="0">
                <a:solidFill>
                  <a:srgbClr val="8BE2D5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00" b="1" i="0">
                <a:solidFill>
                  <a:srgbClr val="8BE2D5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00" b="1" i="0">
                <a:solidFill>
                  <a:srgbClr val="8BE2D5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00" b="1" i="0">
                <a:solidFill>
                  <a:srgbClr val="8BE2D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8BE2D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8BE2D5"/>
                </a:solidFill>
                <a:latin typeface="PingFang SC"/>
                <a:ea typeface="PingFang SC"/>
                <a:cs typeface="PingFang SC"/>
              </a:rPr>
              <a:t>GO3-XAI01-04  /  M5 · 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300F44-EFCA-453B-9153-A9C52DA5A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51"/>
          </a:bodyPr>
          <a:lstStyle xmlns:a="http://schemas.openxmlformats.org/drawingml/2006/main">
            <a:defPPr algn="l">
              <a:defRPr sz="36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36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36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36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36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36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36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36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36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36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6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六种视觉归因方法：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36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质量、稳定性与取舍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7BE452-9C95-42F3-AF9F-4776731C9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238500"/>
            <a:ext cx="866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 i="0">
                <a:solidFill>
                  <a:srgbClr val="CAD5E7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650" b="0" i="0">
                <a:solidFill>
                  <a:srgbClr val="CAD5E7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650" b="0" i="0">
                <a:solidFill>
                  <a:srgbClr val="CAD5E7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650" b="0" i="0">
                <a:solidFill>
                  <a:srgbClr val="CAD5E7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650" b="0" i="0">
                <a:solidFill>
                  <a:srgbClr val="CAD5E7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650" b="0" i="0">
                <a:solidFill>
                  <a:srgbClr val="CAD5E7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650" b="0" i="0">
                <a:solidFill>
                  <a:srgbClr val="CAD5E7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650" b="0" i="0">
                <a:solidFill>
                  <a:srgbClr val="CAD5E7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650" b="0" i="0">
                <a:solidFill>
                  <a:srgbClr val="CAD5E7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650" b="0" i="0">
                <a:solidFill>
                  <a:srgbClr val="CAD5E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CAD5E7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 i="0">
                <a:solidFill>
                  <a:srgbClr val="CAD5E7"/>
                </a:solidFill>
                <a:latin typeface="PingFang SC"/>
                <a:ea typeface="PingFang SC"/>
                <a:cs typeface="PingFang SC"/>
              </a:rPr>
              <a:t>汇总正式 DCU 评测证据，补齐真实同图案例与固定演示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97EA3C-8094-40AF-B65C-71C2E593C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71950"/>
            <a:ext cx="7810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B2940"/>
          </a:solidFill>
          <a:ln xmlns:a="http://schemas.openxmlformats.org/drawingml/2006/main" w="9525">
            <a:solidFill>
              <a:srgbClr val="33476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CCEA38-EDB3-4A92-858F-AE28F8463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81475"/>
            <a:ext cx="62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rPr>
              <a:t>IG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A30283-6245-45D2-BA51-D8BB249D4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71950"/>
            <a:ext cx="11620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B2940"/>
          </a:solidFill>
          <a:ln xmlns:a="http://schemas.openxmlformats.org/drawingml/2006/main" w="9525">
            <a:solidFill>
              <a:srgbClr val="33476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500EF7-D227-45D6-975D-A8CE1EE42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81475"/>
            <a:ext cx="1009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rPr>
              <a:t>Grad-CAM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7A6B51-E172-4742-A69C-ADF22515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171950"/>
            <a:ext cx="11620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B2940"/>
          </a:solidFill>
          <a:ln xmlns:a="http://schemas.openxmlformats.org/drawingml/2006/main" w="9525">
            <a:solidFill>
              <a:srgbClr val="33476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222F45-C2FF-4AD8-B10C-F9550EABD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81475"/>
            <a:ext cx="1009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rPr>
              <a:t>Occlusion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83F617-E3F5-49EB-BF24-C6B65DDC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171950"/>
            <a:ext cx="7810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B2940"/>
          </a:solidFill>
          <a:ln xmlns:a="http://schemas.openxmlformats.org/drawingml/2006/main" w="9525">
            <a:solidFill>
              <a:srgbClr val="33476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1B03D1-6513-4402-ACD6-56428940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181475"/>
            <a:ext cx="62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rPr>
              <a:t>RISE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A63682-0EA3-4775-8C8A-EE8C8457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171950"/>
            <a:ext cx="13335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B2940"/>
          </a:solidFill>
          <a:ln xmlns:a="http://schemas.openxmlformats.org/drawingml/2006/main" w="9525">
            <a:solidFill>
              <a:srgbClr val="33476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4D0CB9-61FE-4C78-9FA7-8BED6B4F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181475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rPr>
              <a:t>KernelSHAP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09DE8E-B6C9-4513-9186-BD9922F5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71950"/>
            <a:ext cx="12573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B2940"/>
          </a:solidFill>
          <a:ln xmlns:a="http://schemas.openxmlformats.org/drawingml/2006/main" w="9525">
            <a:solidFill>
              <a:srgbClr val="33476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16D8BE-57FF-426F-B3D0-B0F2F1C2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81475"/>
            <a:ext cx="1104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rPr>
              <a:t>LIME-8000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49E16E-69FD-4A40-B5D3-3F8C1A7B2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895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 i="0">
                <a:solidFill>
                  <a:srgbClr val="AEBBD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125" b="0" i="0">
                <a:solidFill>
                  <a:srgbClr val="AEBBD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125" b="0" i="0">
                <a:solidFill>
                  <a:srgbClr val="AEBBD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125" b="0" i="0">
                <a:solidFill>
                  <a:srgbClr val="AEBBD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125" b="0" i="0">
                <a:solidFill>
                  <a:srgbClr val="AEBBD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125" b="0" i="0">
                <a:solidFill>
                  <a:srgbClr val="AEBBD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125" b="0" i="0">
                <a:solidFill>
                  <a:srgbClr val="AEBBD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125" b="0" i="0">
                <a:solidFill>
                  <a:srgbClr val="AEBBD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125" b="0" i="0">
                <a:solidFill>
                  <a:srgbClr val="AEBBD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125" b="0" i="0">
                <a:solidFill>
                  <a:srgbClr val="AEBBD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AEBBD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AEBBD0"/>
                </a:solidFill>
                <a:latin typeface="PingFang SC"/>
                <a:ea typeface="PingFang SC"/>
                <a:cs typeface="PingFang SC"/>
              </a:rPr>
              <a:t>M5 展示工作稿 · 案例 215 / 3803 / 7612 已选定 · 18 张正式 PNG 预览已核验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FB48BB-3A91-455F-A187-BAA6C849D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53150"/>
            <a:ext cx="6667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0" i="0">
                <a:solidFill>
                  <a:srgbClr val="8291A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900" b="0" i="0">
                <a:solidFill>
                  <a:srgbClr val="8291A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900" b="0" i="0">
                <a:solidFill>
                  <a:srgbClr val="8291A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900" b="0" i="0">
                <a:solidFill>
                  <a:srgbClr val="8291A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900" b="0" i="0">
                <a:solidFill>
                  <a:srgbClr val="8291A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900" b="0" i="0">
                <a:solidFill>
                  <a:srgbClr val="8291A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900" b="0" i="0">
                <a:solidFill>
                  <a:srgbClr val="8291A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900" b="0" i="0">
                <a:solidFill>
                  <a:srgbClr val="8291A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900" b="0" i="0">
                <a:solidFill>
                  <a:srgbClr val="8291A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900" b="0" i="0">
                <a:solidFill>
                  <a:srgbClr val="8291A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0" i="0">
                <a:solidFill>
                  <a:srgbClr val="8291A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8291AA"/>
                </a:solidFill>
                <a:latin typeface="PingFang SC"/>
                <a:ea typeface="PingFang SC"/>
                <a:cs typeface="PingFang SC"/>
              </a:rPr>
              <a:t>2026-10-28  |  统计基线：feat/kernelshap-analysis @ 2989537</a:t>
            </a:r>
          </a:p>
        </p:txBody>
      </p:sp>
    </p:spTree>
    <p:extLst>
      <p:ext uri="{BB962C8B-B14F-4D97-AF65-F5344CB8AC3E}">
        <p14:creationId xmlns:p14="http://schemas.microsoft.com/office/powerpoint/2010/main" val="7003414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9466C7-B70E-4E20-ACD7-EB042D6BB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rPr>
              <a:t>STUDY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C53CF8-6366-4A4F-BDDA-BB99F6B0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rPr>
              <a:t>同一评测契约覆盖 36 个模型 × 数据 × 方法单元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D889E7-9F72-4F3A-875B-DC6AE480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1917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每个数据集 / 模型组合使用 460 张 eval 图；汇总主分析只看各模型命中样本。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3E276B-6AC2-4497-B55E-60B1D0F9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14475"/>
            <a:ext cx="2476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6E945D-975E-4244-9A67-F23386015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14475"/>
            <a:ext cx="5715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8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21D8C8-0DEE-4627-AB5C-A7CF4163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383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方法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0E157F-9D22-45F6-8CC4-A95E22F7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71675"/>
            <a:ext cx="2133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rPr>
              <a:t>6 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A24910-A0AD-4759-AF90-258047AD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514475"/>
            <a:ext cx="2476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7935D1-7AD4-47B5-8C25-717FA77FC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514475"/>
            <a:ext cx="5715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8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9A1DFB-A396-4800-A441-D0CCDD49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383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CNN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61C186-7DA1-4E32-833B-643F79E29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71675"/>
            <a:ext cx="2133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rPr>
              <a:t>3 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5E0F1E-C2CF-4B2F-87E2-E39DD4A7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514475"/>
            <a:ext cx="2476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D12F25-5DBA-4DD1-A5F8-CD17099F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514475"/>
            <a:ext cx="5715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8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47A213-31E0-4B30-8AA1-9D810844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383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数据集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1C5E90-764C-4813-B641-E81EE6DC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71675"/>
            <a:ext cx="2133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rPr>
              <a:t>2 个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6C69B2-ABB2-4C69-9A59-A46A9692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514475"/>
            <a:ext cx="2476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7889CB-85D2-4F67-A570-9FC4BC9C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514475"/>
            <a:ext cx="5715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57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AEA473-07A5-4EDA-99C0-C3CD6CCE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6383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每单元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E05C70-1E06-4FC3-8E01-8536A1456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971675"/>
            <a:ext cx="2133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rPr>
              <a:t>460 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863143-4131-4DE4-A74A-68F093F8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238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E25D47-297D-44C2-AF3F-69CC8D3B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289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rPr>
              <a:t>固定图像与真值 target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6856C9-C97A-47FA-B048-8E7EB5D7D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38550"/>
            <a:ext cx="2933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eval split · 同图配对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CD3790-3FA5-499F-A53F-53BD666A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5757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165"/>
          </a:bodyPr>
          <a:lstStyle xmlns:a="http://schemas.openxmlformats.org/drawingml/2006/main">
            <a:defPPr algn="ctr">
              <a:defRPr sz="202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202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202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202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202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202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202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202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202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202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202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8F1891-FB92-4C7A-B5D7-9139B207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048000"/>
            <a:ext cx="3238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7F0FE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069E0F-4522-4924-9F33-2DFECE79A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219450"/>
            <a:ext cx="289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rPr>
              <a:t>六种归因图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912123-072E-48B1-B4D1-3DC9ED0B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638550"/>
            <a:ext cx="2933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同一模型权重 · 各自配置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956E37-531B-49AA-9978-DC324871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45757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165"/>
          </a:bodyPr>
          <a:lstStyle xmlns:a="http://schemas.openxmlformats.org/drawingml/2006/main">
            <a:defPPr algn="ctr">
              <a:defRPr sz="202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202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202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202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202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202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202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202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202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202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202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D2006A-573C-448D-B613-56CEED249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48000"/>
            <a:ext cx="3238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738956-3901-4D0D-9E50-62B63616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19450"/>
            <a:ext cx="289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rPr>
              <a:t>三类证据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473F9C-9D57-4A16-8F47-34B4091E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38550"/>
            <a:ext cx="2933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raw MoRF · 噪声稳定性 · 记录时间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A645DE-3DB8-4D32-8A55-CBC2E1CB0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107442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9525">
            <a:solidFill>
              <a:srgbClr val="F0D7A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09F216-6DF0-44A6-B8DF-1E8350DD8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5297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0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0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0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0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0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0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0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0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0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rPr>
              <a:t>口径边界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DE85433-4C54-4F48-95D4-55D3C3A2F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57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316"/>
          </a:bodyPr>
          <a:lstStyle xmlns:a="http://schemas.openxmlformats.org/drawingml/2006/main">
            <a:defPPr algn="l"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ImageNet 与 VOC 不横向比 raw AUC；VOC 的命中是冻结单目标的 sigmoid argmax，不是多标签 exact match 或 mAP。跨模型比较使用共同命中组。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973E0F-B31B-467B-AE94-0DCBD79A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960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BDA2E54-2E95-4A6D-974E-A6C23F7E2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GO3-XAI01-04  ·  E / M5  ·  工作草稿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4DEEBD2-81BB-4306-BBE8-DACCAC022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341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78033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042065-0D49-480D-88E3-6A34BB22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rPr>
              <a:t>RQ1 + RQ2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DE9EE3-265C-4311-B268-1141511A7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rPr>
              <a:t>忠实性与稳定性并不总由同一种方法领先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42923B-88E4-43CB-ADA2-9303544B0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1917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均值误差线为类别分层 bootstrap 95% 边际 CI；耗时是归因 wrapper 记录值。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45B30B-1652-4B14-8956-4F6FCAB9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390650"/>
            <a:ext cx="11468100" cy="47625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DEC46B-D153-4005-99CA-C61B920758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3d1269f8584a5b"/>
          <a:stretch xmlns:a="http://schemas.openxmlformats.org/drawingml/2006/main"/>
        </p:blipFill>
        <p:spPr>
          <a:xfrm xmlns:a="http://schemas.openxmlformats.org/drawingml/2006/main">
            <a:off x="2135903" y="1428750"/>
            <a:ext cx="7920195" cy="4619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CE1518-62DB-418F-B9B1-918C72B54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72200"/>
            <a:ext cx="11201400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DD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8A473D-286F-4392-ABFF-915FED06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81725"/>
            <a:ext cx="10906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 i="0">
                <a:solidFill>
                  <a:srgbClr val="155B5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050" b="1" i="0">
                <a:solidFill>
                  <a:srgbClr val="155B5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050" b="1" i="0">
                <a:solidFill>
                  <a:srgbClr val="155B5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050" b="1" i="0">
                <a:solidFill>
                  <a:srgbClr val="155B5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050" b="1" i="0">
                <a:solidFill>
                  <a:srgbClr val="155B5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050" b="1" i="0">
                <a:solidFill>
                  <a:srgbClr val="155B5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050" b="1" i="0">
                <a:solidFill>
                  <a:srgbClr val="155B5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050" b="1" i="0">
                <a:solidFill>
                  <a:srgbClr val="155B5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050" b="1" i="0">
                <a:solidFill>
                  <a:srgbClr val="155B5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050" b="1" i="0">
                <a:solidFill>
                  <a:srgbClr val="155B5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155B56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155B56"/>
                </a:solidFill>
                <a:latin typeface="PingFang SC"/>
                <a:ea typeface="PingFang SC"/>
                <a:cs typeface="PingFang SC"/>
              </a:rPr>
              <a:t>读图：IG 在 6 组中的 5 组 AUC 均值最低；RISE 在 6 组中平均噪声稳定性最高。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7F7218-3C47-45FB-98B5-491AD06A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960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48E60A-5ADB-4AEA-A81B-8BFC0103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GO3-XAI01-04  ·  E / M5  ·  工作草稿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D8C042-B6FE-4E85-816A-F15EA693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341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87296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BFF887-1653-49F9-BE1C-1D84DF7D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rPr>
              <a:t>METHOD CHOICE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1A549D-DF20-4E2F-9552-7F764795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rPr>
              <a:t>质量前沿随数据集和模型改变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52CC76-7FD2-4D85-B6F9-CBD30CAA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1917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横轴 raw MoRF AUC 越低越好；纵轴噪声 Spearman 越高越稳定。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CE5113-9A17-4B82-ABE1-E5C51B7CB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8620125" cy="4905375"/>
          </a:xfrm>
          <a:prstGeom xmlns:a="http://schemas.openxmlformats.org/drawingml/2006/main" prst="roundRect">
            <a:avLst>
              <a:gd name="adj" fmla="val 23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B0D086-5195-4D26-834A-87A53519CB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530e25d1c747be"/>
          <a:stretch xmlns:a="http://schemas.openxmlformats.org/drawingml/2006/main"/>
        </p:blipFill>
        <p:spPr>
          <a:xfrm xmlns:a="http://schemas.openxmlformats.org/drawingml/2006/main">
            <a:off x="993790" y="1428750"/>
            <a:ext cx="7404071" cy="4762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8E045F-0B9A-4CBA-A86E-A9CDFF63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71625"/>
            <a:ext cx="2381250" cy="19812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1019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51A63F-D96C-4413-BD96-F0C872213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79070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8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8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8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8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8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8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8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8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8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没有全局冠军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00990D-7CFC-498A-838A-DCE110AB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409825"/>
            <a:ext cx="1952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D5DFE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75" b="0" i="0">
                <a:solidFill>
                  <a:srgbClr val="D5DFE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75" b="0" i="0">
                <a:solidFill>
                  <a:srgbClr val="D5DFE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75" b="0" i="0">
                <a:solidFill>
                  <a:srgbClr val="D5DFE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75" b="0" i="0">
                <a:solidFill>
                  <a:srgbClr val="D5DFE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75" b="0" i="0">
                <a:solidFill>
                  <a:srgbClr val="D5DFE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75" b="0" i="0">
                <a:solidFill>
                  <a:srgbClr val="D5DFE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75" b="0" i="0">
                <a:solidFill>
                  <a:srgbClr val="D5DFE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75" b="0" i="0">
                <a:solidFill>
                  <a:srgbClr val="D5DFE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75" b="0" i="0">
                <a:solidFill>
                  <a:srgbClr val="D5DFE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D5DFE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D5DFEE"/>
                </a:solidFill>
                <a:latin typeface="PingFang SC"/>
                <a:ea typeface="PingFang SC"/>
                <a:cs typeface="PingFang SC"/>
              </a:rPr>
              <a:t>各单元质量前沿包含 2–4 种方法。要按模型、数据和目标选择。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F6768F-D981-49CA-AE8C-471A57581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790950"/>
            <a:ext cx="238125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9525">
            <a:solidFill>
              <a:srgbClr val="F0D7A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675622-9823-4DDA-96F1-F876C4D8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010025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50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50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50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50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50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50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50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50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50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rPr>
              <a:t>计时只作背景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AD8FAE-189A-4439-825E-24F3BAC3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476750"/>
            <a:ext cx="1952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图中 3D 前沿使用本批次 wrapper ms；共享负载和不同实现路径限制了速度结论。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D89897-B997-436E-8D4B-73419A6D8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960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BC29C5-26CE-40B5-B368-6C664A988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GO3-XAI01-04  ·  E / M5  ·  工作草稿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1F0A58-DBD6-4E9B-8E0D-2A04B7D32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341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411327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350352-5EFD-40E7-BF33-9C27AE85C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rPr>
              <a:t>RQ1 · PAIRED EFFECTS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1C58D4-26CA-4E63-8C98-2CF634C5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rPr>
              <a:t>ImageNet：配对秩效应支持取舍，不等于均值差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D1A939-4ED1-4F24-AEF6-AE8A07A7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1917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热图数字是配对 rank-biserial effect；正值偏向行方法。星号为 Holm 校正秩检验，不是均值检验。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7AEB48-0E87-40F9-BEE1-E461CC4B2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428750"/>
            <a:ext cx="8477250" cy="4905375"/>
          </a:xfrm>
          <a:prstGeom xmlns:a="http://schemas.openxmlformats.org/drawingml/2006/main" prst="roundRect">
            <a:avLst>
              <a:gd name="adj" fmla="val 23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A1C6A4-7FAA-4919-B0BF-227EB74912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711907b93d4f9d"/>
          <a:stretch xmlns:a="http://schemas.openxmlformats.org/drawingml/2006/main"/>
        </p:blipFill>
        <p:spPr>
          <a:xfrm xmlns:a="http://schemas.openxmlformats.org/drawingml/2006/main">
            <a:off x="695420" y="1485900"/>
            <a:ext cx="7743636" cy="47148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76DCB2-1E58-4AC7-BB36-C3B9137A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600200"/>
            <a:ext cx="2619375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7F0FE"/>
          </a:solidFill>
          <a:ln xmlns:a="http://schemas.openxmlformats.org/drawingml/2006/main" w="9525">
            <a:solidFill>
              <a:srgbClr val="C9D9F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F54781-8434-48AC-896A-97E5FC9E3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800225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 i="0">
                <a:solidFill>
                  <a:srgbClr val="315B9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350" b="1" i="0">
                <a:solidFill>
                  <a:srgbClr val="315B9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350" b="1" i="0">
                <a:solidFill>
                  <a:srgbClr val="315B9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350" b="1" i="0">
                <a:solidFill>
                  <a:srgbClr val="315B9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350" b="1" i="0">
                <a:solidFill>
                  <a:srgbClr val="315B9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350" b="1" i="0">
                <a:solidFill>
                  <a:srgbClr val="315B9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350" b="1" i="0">
                <a:solidFill>
                  <a:srgbClr val="315B9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350" b="1" i="0">
                <a:solidFill>
                  <a:srgbClr val="315B9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350" b="1" i="0">
                <a:solidFill>
                  <a:srgbClr val="315B9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350" b="1" i="0">
                <a:solidFill>
                  <a:srgbClr val="315B9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315B9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315B96"/>
                </a:solidFill>
                <a:latin typeface="PingFang SC"/>
                <a:ea typeface="PingFang SC"/>
                <a:cs typeface="PingFang SC"/>
              </a:rPr>
              <a:t>怎么读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77E449-47F8-44B6-9F82-2A75BE0A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19325"/>
            <a:ext cx="2238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蓝色正值：行方法占优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红色负值：列方法占优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数值是秩效应，不是均值差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F06C16-F131-4339-A712-744FAA1C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57575"/>
            <a:ext cx="2619375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B5CA8A-F542-4C26-BCA5-BC44E02F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65760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rPr>
              <a:t>本页要点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6205CB-620A-457D-923F-89F4E9287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095750"/>
            <a:ext cx="223837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IG 的 AUC 均值在 ResNet50 / VGG16 更低；DenseNet121 的均值差 CI 跨零。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B23EAB-8D6F-43D2-9F35-9402156C4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960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0526D6-50E5-446A-9B5D-DE8B8AA09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GO3-XAI01-04  ·  E / M5  ·  工作草稿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6E43DA-6577-4E82-A3F4-5CB1D29F1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341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905769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2CCB98-F82F-4AD9-814F-489D3F5A0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rPr>
              <a:t>RQ1 · PAIRED EFFECTS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8CC999-DC4E-4B03-9141-F7E666874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rPr>
              <a:t>VOC：单目标协议下，质量结论仍依赖模型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3FBD62-6EBD-47FE-AD78-70AB19D8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1917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VOC 结论仅适用于该冻结 target 协议；不外推为 VOC 多标签 mAP。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3318A7-2067-4A7B-8A42-EB9FA7A7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428750"/>
            <a:ext cx="8477250" cy="4905375"/>
          </a:xfrm>
          <a:prstGeom xmlns:a="http://schemas.openxmlformats.org/drawingml/2006/main" prst="roundRect">
            <a:avLst>
              <a:gd name="adj" fmla="val 23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0BA5AF-9427-473A-B455-8945A8F41A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62f2ff792b468e"/>
          <a:stretch xmlns:a="http://schemas.openxmlformats.org/drawingml/2006/main"/>
        </p:blipFill>
        <p:spPr>
          <a:xfrm xmlns:a="http://schemas.openxmlformats.org/drawingml/2006/main">
            <a:off x="695420" y="1485900"/>
            <a:ext cx="7743636" cy="47148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1A5509-C753-4EC0-A652-0497EBCBC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600200"/>
            <a:ext cx="2619375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7F0FE"/>
          </a:solidFill>
          <a:ln xmlns:a="http://schemas.openxmlformats.org/drawingml/2006/main" w="9525">
            <a:solidFill>
              <a:srgbClr val="C9D9F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52A79C-1764-4116-BEA6-5EDD87D4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800225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 i="0">
                <a:solidFill>
                  <a:srgbClr val="315B9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350" b="1" i="0">
                <a:solidFill>
                  <a:srgbClr val="315B9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350" b="1" i="0">
                <a:solidFill>
                  <a:srgbClr val="315B9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350" b="1" i="0">
                <a:solidFill>
                  <a:srgbClr val="315B9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350" b="1" i="0">
                <a:solidFill>
                  <a:srgbClr val="315B9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350" b="1" i="0">
                <a:solidFill>
                  <a:srgbClr val="315B9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350" b="1" i="0">
                <a:solidFill>
                  <a:srgbClr val="315B9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350" b="1" i="0">
                <a:solidFill>
                  <a:srgbClr val="315B9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350" b="1" i="0">
                <a:solidFill>
                  <a:srgbClr val="315B9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350" b="1" i="0">
                <a:solidFill>
                  <a:srgbClr val="315B9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315B9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315B96"/>
                </a:solidFill>
                <a:latin typeface="PingFang SC"/>
                <a:ea typeface="PingFang SC"/>
                <a:cs typeface="PingFang SC"/>
              </a:rPr>
              <a:t>怎么读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90D7B1-0BC7-4E9B-9C05-9F8789D3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19325"/>
            <a:ext cx="2238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蓝色正值：行方法占优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红色负值：列方法占优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数值是秩效应，不是均值差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AFCC04-FAF3-441B-9846-A3396A665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57575"/>
            <a:ext cx="2619375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3AA11A-36A0-417B-AFB0-A4BCF553A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65760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rPr>
              <a:t>本页要点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08A5C5-C316-4810-B9D7-DB8A8003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095750"/>
            <a:ext cx="223837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IG 在三种模型的 AUC 均值均最低，但质量与稳定性仍要分开报告。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E38A4C-1112-46E6-B097-08F444746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960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B96E73-04F1-4EE4-985C-E7828D2A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GO3-XAI01-04  ·  E / M5  ·  工作草稿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323C49-9003-4505-A189-E6A8D011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341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97524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74578B-BCCE-48F7-B7EF-6D8EAF3D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rPr>
              <a:t>RQ3 · EXPLORATORY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C454E5-399C-4D58-80CD-4E60B6F4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rPr>
              <a:t>稳定性与忠实性之间没有简单单调关系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77FBD3-8984-4710-93DF-A225D335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1917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Spearman 相关在每个方法 / 模型 / 数据集内计算；它不是因果分析。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1165A3-6FFE-45BE-9A02-64B4B877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76375"/>
            <a:ext cx="7334250" cy="47625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5F6E44-025B-4255-98F7-22DACE111E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42731453b74c55"/>
          <a:stretch xmlns:a="http://schemas.openxmlformats.org/drawingml/2006/main"/>
        </p:blipFill>
        <p:spPr>
          <a:xfrm xmlns:a="http://schemas.openxmlformats.org/drawingml/2006/main">
            <a:off x="552450" y="1899963"/>
            <a:ext cx="7181850" cy="3858174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C434A2-2BF9-44A9-98E4-8131D11F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38300"/>
            <a:ext cx="3524250" cy="18859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DDF4F1"/>
          </a:solidFill>
          <a:ln xmlns:a="http://schemas.openxmlformats.org/drawingml/2006/main" w="9525">
            <a:solidFill>
              <a:srgbClr val="BFE7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9E63F0-5324-4E1C-AD66-807D07C5C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57375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 i="0">
                <a:solidFill>
                  <a:srgbClr val="155B5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500" b="1" i="0">
                <a:solidFill>
                  <a:srgbClr val="155B5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500" b="1" i="0">
                <a:solidFill>
                  <a:srgbClr val="155B5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500" b="1" i="0">
                <a:solidFill>
                  <a:srgbClr val="155B5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500" b="1" i="0">
                <a:solidFill>
                  <a:srgbClr val="155B5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500" b="1" i="0">
                <a:solidFill>
                  <a:srgbClr val="155B5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500" b="1" i="0">
                <a:solidFill>
                  <a:srgbClr val="155B5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500" b="1" i="0">
                <a:solidFill>
                  <a:srgbClr val="155B5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500" b="1" i="0">
                <a:solidFill>
                  <a:srgbClr val="155B5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500" b="1" i="0">
                <a:solidFill>
                  <a:srgbClr val="155B5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155B5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155B56"/>
                </a:solidFill>
                <a:latin typeface="PingFang SC"/>
                <a:ea typeface="PingFang SC"/>
                <a:cs typeface="PingFang SC"/>
              </a:rPr>
              <a:t>显著相关不等于方法排名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116ADA-D5E4-40AE-892C-39E838610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62200"/>
            <a:ext cx="304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相关方向在方法间不一致。AUC 越大代表忠实性越差；正相关表示较差 AUC 伴随更高稳定性。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FCDC5D-908C-49AC-99BA-A642EEF8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52850"/>
            <a:ext cx="3524250" cy="19621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410C38-E917-4E6D-BC3E-9EAE626A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71925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rPr>
              <a:t>统计边界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127FF0-432B-4BEF-A687-19F232191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00550"/>
            <a:ext cx="304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216 个 Pearson / Spearman 端点一起做 Holm 校正。该页用于描述关系，不支持机制或因果解释。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2521C0-1CEE-4C3A-8AC9-56D31D9F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960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2BB3DC-2344-47FF-80F5-507F31C2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GO3-XAI01-04  ·  E / M5  ·  工作草稿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539049-D3CF-4C11-B50E-855372E67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341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730733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71BEE5-974A-4E10-94A1-B5A77428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rPr>
              <a:t>E · LIME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798780-E625-4044-9715-61CE8648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rPr>
              <a:t>LIME：局部线性近似，正式比较预算为 8,000 个扰动样本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3F7CC7-ECE7-446F-A966-5CECEDF0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1917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实现固定 Quickshift 分割、Bernoulli superpixel masks、核加权 Ridge，再把系数投影回像素。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751EC3-753F-4CAE-BE98-60C20979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76375"/>
            <a:ext cx="5238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ADF277-AEDF-49FA-AC5F-95C3C10B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76375"/>
            <a:ext cx="5715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8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B04DB8-CA48-42C5-BE42-2D7055C8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00200"/>
            <a:ext cx="489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样本与批量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94F8EE-7FA3-41C6-AA3F-B0FE358F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33575"/>
            <a:ext cx="4895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1445"/>
          </a:bodyPr>
          <a:lstStyle xmlns:a="http://schemas.openxmlformats.org/drawingml/2006/main">
            <a:defPPr algn="l"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rPr>
              <a:t>8,000 / 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04450E-7C08-4C20-B0D9-D3D371AAF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76375"/>
            <a:ext cx="5238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E72CE0-A43E-45A3-A932-5F31207D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76375"/>
            <a:ext cx="5715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B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F12119-510E-49B1-A8BE-B439084C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00200"/>
            <a:ext cx="489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分割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D872C2-A780-4F81-BC66-BB30B391A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33575"/>
            <a:ext cx="4895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1445"/>
          </a:bodyPr>
          <a:lstStyle xmlns:a="http://schemas.openxmlformats.org/drawingml/2006/main">
            <a:defPPr algn="l"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rPr>
              <a:t>Quickshift · seed 42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82522A-E97B-474B-81CB-4DB42819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76500"/>
            <a:ext cx="5238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29335A-2D91-49AE-AC00-6F9FE085A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76500"/>
            <a:ext cx="5715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B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7BA0F5-37A0-4D3A-8DE0-B5280E36D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00325"/>
            <a:ext cx="489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扰动核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5E9D74-3CAB-4FCF-B16A-80A268989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33700"/>
            <a:ext cx="4895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1445"/>
          </a:bodyPr>
          <a:lstStyle xmlns:a="http://schemas.openxmlformats.org/drawingml/2006/main">
            <a:defPPr algn="l"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rPr>
              <a:t>exponential · width 0.25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D4339C-9CA6-4F3C-9724-17AC9071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76500"/>
            <a:ext cx="5238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D20670-7FD2-41E2-8AD3-B584C9C52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76500"/>
            <a:ext cx="5715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B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7705B1-562C-4584-AA06-373D976D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00325"/>
            <a:ext cx="489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回归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13EAF7-ED2A-4A32-8B1B-4D77CBBBD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33700"/>
            <a:ext cx="4895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1445"/>
          </a:bodyPr>
          <a:lstStyle xmlns:a="http://schemas.openxmlformats.org/drawingml/2006/main">
            <a:defPPr algn="l"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rPr>
              <a:t>Ridge α=1 · all superpixels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99C7A1-3C17-4522-A293-C152E1B75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33800"/>
            <a:ext cx="110871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019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1B7E9E-6695-4735-9BC2-7DEE6F26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 i="0">
                <a:solidFill>
                  <a:srgbClr val="8BE2D5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425" b="1" i="0">
                <a:solidFill>
                  <a:srgbClr val="8BE2D5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425" b="1" i="0">
                <a:solidFill>
                  <a:srgbClr val="8BE2D5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425" b="1" i="0">
                <a:solidFill>
                  <a:srgbClr val="8BE2D5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425" b="1" i="0">
                <a:solidFill>
                  <a:srgbClr val="8BE2D5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425" b="1" i="0">
                <a:solidFill>
                  <a:srgbClr val="8BE2D5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425" b="1" i="0">
                <a:solidFill>
                  <a:srgbClr val="8BE2D5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425" b="1" i="0">
                <a:solidFill>
                  <a:srgbClr val="8BE2D5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425" b="1" i="0">
                <a:solidFill>
                  <a:srgbClr val="8BE2D5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425" b="1" i="0">
                <a:solidFill>
                  <a:srgbClr val="8BE2D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8BE2D5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8BE2D5"/>
                </a:solidFill>
                <a:latin typeface="PingFang SC"/>
                <a:ea typeface="PingFang SC"/>
                <a:cs typeface="PingFang SC"/>
              </a:rPr>
              <a:t>VOC / ResNet50 · model-correct n = 387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ED3929-3484-4AEB-97BD-4CF43D91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91025"/>
            <a:ext cx="3238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8902"/>
          </a:bodyPr>
          <a:lstStyle xmlns:a="http://schemas.openxmlformats.org/drawingml/2006/main">
            <a:defPPr algn="l"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LIME-8000  raw AUC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0.52481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E60DDD-ACF6-4B73-88AA-CFD2FBCCB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91025"/>
            <a:ext cx="3238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8902"/>
          </a:bodyPr>
          <a:lstStyle xmlns:a="http://schemas.openxmlformats.org/drawingml/2006/main">
            <a:defPPr algn="l"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噪声 Spearman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0.76451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6D1A2D-001F-4815-A66F-F28E0F4C8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91025"/>
            <a:ext cx="3429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8902"/>
          </a:bodyPr>
          <a:lstStyle xmlns:a="http://schemas.openxmlformats.org/drawingml/2006/main">
            <a:defPPr algn="l"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wrapper time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4,218.50 ms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840274-251C-4BD1-8FC0-5FC967BD1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 i="0">
                <a:solidFill>
                  <a:srgbClr val="D5DFE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125" b="0" i="0">
                <a:solidFill>
                  <a:srgbClr val="D5DFE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125" b="0" i="0">
                <a:solidFill>
                  <a:srgbClr val="D5DFE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125" b="0" i="0">
                <a:solidFill>
                  <a:srgbClr val="D5DFE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125" b="0" i="0">
                <a:solidFill>
                  <a:srgbClr val="D5DFE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125" b="0" i="0">
                <a:solidFill>
                  <a:srgbClr val="D5DFE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125" b="0" i="0">
                <a:solidFill>
                  <a:srgbClr val="D5DFE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125" b="0" i="0">
                <a:solidFill>
                  <a:srgbClr val="D5DFE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125" b="0" i="0">
                <a:solidFill>
                  <a:srgbClr val="D5DFE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125" b="0" i="0">
                <a:solidFill>
                  <a:srgbClr val="D5DFE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D5DFEE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D5DFEE"/>
                </a:solidFill>
                <a:latin typeface="PingFang SC"/>
                <a:ea typeface="PingFang SC"/>
                <a:cs typeface="PingFang SC"/>
              </a:rPr>
              <a:t>该固定预算不是收敛证明；同单元 IG 的平均 AUC 更低，RISE 的平均稳定性更高。计时不能视作跨 GPU 效率排名。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73F33E-73DB-4EA6-B09C-36FF4E3C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960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030A65-9DD9-47E5-A81F-2B8FEBE80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GO3-XAI01-04  ·  E / M5  ·  工作草稿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49A6F5-5810-4BF6-8039-B6C1DA8C7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341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830915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77ECA1-E438-4732-B57B-824C8549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rPr>
              <a:t>CASE GALLERY · MAPS VERIFIED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DAC10B-75D8-4E4D-AE24-91319228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rPr>
              <a:t>三张 eval 展示案例：绑定真值、指标与六方法正式图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A662D0-5854-46D0-91CA-76CCBFD3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1917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按可复现规则事后选图（非实验前预注册）；地图文件与来源哈希已核验。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6B8D68-5B68-4F3B-BD91-C28FC8D0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57325"/>
            <a:ext cx="3619500" cy="45529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6C56F5-611B-4F8E-943A-57CFE3043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9725"/>
            <a:ext cx="3276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rPr>
              <a:t>image_id 215 · cat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5D3D41-5587-4434-AA71-0AF28412E7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837596b1a34c2f"/>
          <a:stretch xmlns:a="http://schemas.openxmlformats.org/drawingml/2006/main"/>
        </p:blipFill>
        <p:spPr>
          <a:xfrm xmlns:a="http://schemas.openxmlformats.org/drawingml/2006/main">
            <a:off x="1312862" y="2000250"/>
            <a:ext cx="1984375" cy="18573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3FA3D4-15CB-4ADB-890B-DF9F34902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3276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四指标名次画像匹配中位数（L1=0）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confidence 0.9662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36F59B-AABF-409E-B637-174FB1E6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81525"/>
            <a:ext cx="3276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最低 AUC：IG 0.450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最高稳定性：RISE 1.000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2DD9F0-B81A-42ED-B0F9-BD7E28AB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48275"/>
            <a:ext cx="32766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9525">
            <a:solidFill>
              <a:srgbClr val="F0D7A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70F245-EB4C-47EE-B02E-5EFA55EDB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305425"/>
            <a:ext cx="3067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rPr>
              <a:t>六方法正式图已核验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rPr>
              <a:t>展示案例已确定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EE4E4E-60F7-41A2-9A58-9CB75FA4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457325"/>
            <a:ext cx="3619500" cy="45529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8D0052-255D-4D2B-9BE3-13060A7A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09725"/>
            <a:ext cx="3276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rPr>
              <a:t>image_id 3803 · bird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694D3F-BC87-48EA-8641-4F7D95BFC6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ce1934c15946ef"/>
          <a:stretch xmlns:a="http://schemas.openxmlformats.org/drawingml/2006/main"/>
        </p:blipFill>
        <p:spPr>
          <a:xfrm xmlns:a="http://schemas.openxmlformats.org/drawingml/2006/main">
            <a:off x="5418534" y="2000250"/>
            <a:ext cx="1393031" cy="1857375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DE0DD6-1134-4351-ACFB-587CF68D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62400"/>
            <a:ext cx="3276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名次差平方和 70，与 4675 并列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按较小 ID 选 3803 · conf 0.8687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0D124B-BAA0-47B5-B4A7-A15116F6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81525"/>
            <a:ext cx="3276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最低 AUC：IG 0.611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最高稳定性：RISE 1.000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29C1D2-6C69-48D5-AFAD-909FAAEE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248275"/>
            <a:ext cx="32766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9525">
            <a:solidFill>
              <a:srgbClr val="F0D7A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32823A-E4D0-4B5E-90DC-2A8FCD26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5305425"/>
            <a:ext cx="3067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rPr>
              <a:t>六方法正式图已核验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rPr>
              <a:t>展示案例已确定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90D20D-F9EC-4DD3-9EFF-9CB5C8E0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457325"/>
            <a:ext cx="3619500" cy="45529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5943EA-98DF-4BF0-B922-CE59F429B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09725"/>
            <a:ext cx="3276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rPr>
              <a:t>image_id 7612 · dog</a:t>
            </a:r>
          </a:p>
        </p:txBody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1B9A2D-E456-460C-8704-23F534C9FB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5f09e0b6094ab5"/>
          <a:stretch xmlns:a="http://schemas.openxmlformats.org/drawingml/2006/main"/>
        </p:blipFill>
        <p:spPr>
          <a:xfrm xmlns:a="http://schemas.openxmlformats.org/drawingml/2006/main">
            <a:off x="9228534" y="2000250"/>
            <a:ext cx="1393031" cy="1857375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F814AD-BC86-41DA-9058-B02DE51D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62400"/>
            <a:ext cx="3276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387 张命中样本中置信度最低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0.5393 · 仍命中真值（非误分类）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CADD5B-49BC-4D52-B826-C296C5FAB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81525"/>
            <a:ext cx="3276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最低 AUC：LIME 0.202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最高稳定性：RISE 0.999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58E354-E3E6-47CA-A93A-9DD4C75F8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248275"/>
            <a:ext cx="32766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9525">
            <a:solidFill>
              <a:srgbClr val="F0D7A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C14978-EFDF-4D81-8AD4-DDC56993A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5305425"/>
            <a:ext cx="3067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rPr>
              <a:t>六方法正式图已核验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rPr>
              <a:t>展示案例已确定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AA6D0C-A6EE-469E-BB4D-373CCA617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960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244672-9765-4798-8000-3C81F744F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GO3-XAI01-04  ·  E / M5  ·  工作草稿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DB0455-94C9-4F34-85F5-B7038963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341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190005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map-slide-kicker">
            <a:extLst xmlns:a="http://schemas.openxmlformats.org/drawingml/2006/main">
              <a:ext uri="{FF2B5EF4-FFF2-40B4-BE49-F238E27FC236}">
                <a16:creationId xmlns:a16="http://schemas.microsoft.com/office/drawing/2014/main" id="{9ED02AA2-DC00-4842-956E-CC3048803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75" b="1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975" b="1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975" b="1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975" b="1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975" b="1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975" b="1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975" b="1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975" b="1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975" b="1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975" b="1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</a:pPr>
            <a:r>
              <a:rPr sz="975" b="1">
                <a:solidFill>
                  <a:srgbClr val="0B8F86"/>
                </a:solidFill>
                <a:latin typeface="PingFang SC"/>
                <a:ea typeface="PingFang SC"/>
                <a:cs typeface="PingFang SC"/>
              </a:rPr>
              <a:t>SAME INPUT · OFFICIAL MAP PREVIEWS</a:t>
            </a:r>
          </a:p>
        </p:txBody>
      </p:sp>
      <p:sp>
        <p:nvSpPr>
          <p:cNvPr id="2" name="map-slide-title">
            <a:extLst xmlns:a="http://schemas.openxmlformats.org/drawingml/2006/main">
              <a:ext uri="{FF2B5EF4-FFF2-40B4-BE49-F238E27FC236}">
                <a16:creationId xmlns:a16="http://schemas.microsoft.com/office/drawing/2014/main" id="{B6CD5811-3333-49C0-8F09-B42B36F9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"/>
            <a:ext cx="942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50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250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250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250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250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250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250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250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250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250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</a:pPr>
            <a:r>
              <a:rPr sz="2250" b="1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同一张 eval 图像的六方法归因预览</a:t>
            </a:r>
          </a:p>
        </p:txBody>
      </p:sp>
      <p:sp>
        <p:nvSpPr>
          <p:cNvPr id="3" name="map-slide-subtitle">
            <a:extLst xmlns:a="http://schemas.openxmlformats.org/drawingml/2006/main">
              <a:ext uri="{FF2B5EF4-FFF2-40B4-BE49-F238E27FC236}">
                <a16:creationId xmlns:a16="http://schemas.microsoft.com/office/drawing/2014/main" id="{89BBA31B-CC65-4DE3-89E4-E472E0FFF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0125"/>
            <a:ext cx="9477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66758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00" b="0">
                <a:solidFill>
                  <a:srgbClr val="66758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00" b="0">
                <a:solidFill>
                  <a:srgbClr val="66758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00" b="0">
                <a:solidFill>
                  <a:srgbClr val="66758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00" b="0">
                <a:solidFill>
                  <a:srgbClr val="66758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00" b="0">
                <a:solidFill>
                  <a:srgbClr val="66758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00" b="0">
                <a:solidFill>
                  <a:srgbClr val="66758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00" b="0">
                <a:solidFill>
                  <a:srgbClr val="66758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00" b="0">
                <a:solidFill>
                  <a:srgbClr val="66758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00" b="0">
                <a:solidFill>
                  <a:srgbClr val="66758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</a:pPr>
            <a:r>
              <a:rPr sz="1200" b="0">
                <a:solidFill>
                  <a:srgbClr val="66758E"/>
                </a:solidFill>
                <a:latin typeface="PingFang SC"/>
                <a:ea typeface="PingFang SC"/>
                <a:cs typeface="PingFang SC"/>
              </a:rPr>
              <a:t>VOC / ResNet50 · image_id 215 · 真值 cat (7) · confidence 0.9662 · 按中位名次画像规则选中（L1=0）</a:t>
            </a:r>
          </a:p>
        </p:txBody>
      </p:sp>
      <p:sp>
        <p:nvSpPr>
          <p:cNvPr id="4" name="map-slide-source-frame">
            <a:extLst xmlns:a="http://schemas.openxmlformats.org/drawingml/2006/main">
              <a:ext uri="{FF2B5EF4-FFF2-40B4-BE49-F238E27FC236}">
                <a16:creationId xmlns:a16="http://schemas.microsoft.com/office/drawing/2014/main" id="{E5DB0898-6535-41A4-91DD-8E6E0998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19075"/>
            <a:ext cx="140970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9D5FE9-4122-4D9A-9296-E135C46F61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eff4566930481c"/>
          <a:stretch xmlns:a="http://schemas.openxmlformats.org/drawingml/2006/main"/>
        </p:blipFill>
        <p:spPr>
          <a:xfrm xmlns:a="http://schemas.openxmlformats.org/drawingml/2006/main">
            <a:off x="10431503" y="257175"/>
            <a:ext cx="1139744" cy="1066800"/>
          </a:xfrm>
          <a:prstGeom xmlns:a="http://schemas.openxmlformats.org/drawingml/2006/main" prst="rect">
            <a:avLst/>
          </a:prstGeom>
        </p:spPr>
      </p:pic>
      <p:sp>
        <p:nvSpPr>
          <p:cNvPr id="6" name="map-card-ig">
            <a:extLst xmlns:a="http://schemas.openxmlformats.org/drawingml/2006/main">
              <a:ext uri="{FF2B5EF4-FFF2-40B4-BE49-F238E27FC236}">
                <a16:creationId xmlns:a16="http://schemas.microsoft.com/office/drawing/2014/main" id="{AB0F30AC-4C90-4911-9C42-E6BDD291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04950"/>
            <a:ext cx="3619500" cy="1981200"/>
          </a:xfrm>
          <a:prstGeom xmlns:a="http://schemas.openxmlformats.org/drawingml/2006/main" prst="roundRect">
            <a:avLst>
              <a:gd name="adj" fmla="val 72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7" name="map-method-ig">
            <a:extLst xmlns:a="http://schemas.openxmlformats.org/drawingml/2006/main">
              <a:ext uri="{FF2B5EF4-FFF2-40B4-BE49-F238E27FC236}">
                <a16:creationId xmlns:a16="http://schemas.microsoft.com/office/drawing/2014/main" id="{8F3B9F58-BAC2-4721-83B1-8C73E2C3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61925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</a:pPr>
            <a:r>
              <a: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IG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9A1E8B-976D-4702-8D32-4D66AE8F94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65f923871241c3"/>
          <a:stretch xmlns:a="http://schemas.openxmlformats.org/drawingml/2006/main"/>
        </p:blipFill>
        <p:spPr>
          <a:xfrm xmlns:a="http://schemas.openxmlformats.org/drawingml/2006/main">
            <a:off x="657225" y="1962150"/>
            <a:ext cx="1257300" cy="1257300"/>
          </a:xfrm>
          <a:prstGeom xmlns:a="http://schemas.openxmlformats.org/drawingml/2006/main" prst="rect">
            <a:avLst/>
          </a:prstGeom>
        </p:spPr>
      </p:pic>
      <p:sp>
        <p:nvSpPr>
          <p:cNvPr id="9" name="map-metrics-ig">
            <a:extLst xmlns:a="http://schemas.openxmlformats.org/drawingml/2006/main">
              <a:ext uri="{FF2B5EF4-FFF2-40B4-BE49-F238E27FC236}">
                <a16:creationId xmlns:a16="http://schemas.microsoft.com/office/drawing/2014/main" id="{DB1FD009-7A62-4BBD-A1EC-D82C26F10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038350"/>
            <a:ext cx="1885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</a:pPr>
            <a:r>
              <a: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rPr>
              <a:t>raw MoRF AUC  0.450</a:t>
            </a:r>
          </a:p>
          <a:p xmlns:a="http://schemas.openxmlformats.org/drawingml/2006/main">
            <a:pPr algn="l">
              <a:buNone/>
            </a:pPr>
            <a:r>
              <a: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rPr>
              <a:t>noise Spearman  0.600</a:t>
            </a:r>
          </a:p>
          <a:p xmlns:a="http://schemas.openxmlformats.org/drawingml/2006/main">
            <a:pPr algn="l">
              <a:buNone/>
            </a:pPr>
            <a:r>
              <a: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rPr>
              <a:t>记录耗时  126.8 ms</a:t>
            </a:r>
          </a:p>
        </p:txBody>
      </p:sp>
      <p:sp>
        <p:nvSpPr>
          <p:cNvPr id="10" name="map-hashes-ig">
            <a:extLst xmlns:a="http://schemas.openxmlformats.org/drawingml/2006/main">
              <a:ext uri="{FF2B5EF4-FFF2-40B4-BE49-F238E27FC236}">
                <a16:creationId xmlns:a16="http://schemas.microsoft.com/office/drawing/2014/main" id="{CCFDE8CC-2141-4F27-B0D7-9A5C4119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91465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</a:pPr>
            <a:r>
              <a: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rPr>
              <a:t>PNG SHA  20afbb394c1e…</a:t>
            </a:r>
          </a:p>
          <a:p xmlns:a="http://schemas.openxmlformats.org/drawingml/2006/main">
            <a:pPr algn="l">
              <a:buNone/>
            </a:pPr>
            <a:r>
              <a: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rPr>
              <a:t>NPY SHA  91c129b468a1…</a:t>
            </a:r>
          </a:p>
        </p:txBody>
      </p:sp>
      <p:sp>
        <p:nvSpPr>
          <p:cNvPr id="11" name="map-card-gradcam">
            <a:extLst xmlns:a="http://schemas.openxmlformats.org/drawingml/2006/main">
              <a:ext uri="{FF2B5EF4-FFF2-40B4-BE49-F238E27FC236}">
                <a16:creationId xmlns:a16="http://schemas.microsoft.com/office/drawing/2014/main" id="{E8A341AF-00DE-42C0-9864-3830E04A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504950"/>
            <a:ext cx="3619500" cy="1981200"/>
          </a:xfrm>
          <a:prstGeom xmlns:a="http://schemas.openxmlformats.org/drawingml/2006/main" prst="roundRect">
            <a:avLst>
              <a:gd name="adj" fmla="val 72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12" name="map-method-gradcam">
            <a:extLst xmlns:a="http://schemas.openxmlformats.org/drawingml/2006/main">
              <a:ext uri="{FF2B5EF4-FFF2-40B4-BE49-F238E27FC236}">
                <a16:creationId xmlns:a16="http://schemas.microsoft.com/office/drawing/2014/main" id="{CDFB6630-F32A-47EB-BA5A-13556B84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61925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</a:pPr>
            <a:r>
              <a: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Grad-CAM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FFA07E-729A-44F8-870E-603A8EA36D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911d4651684db0"/>
          <a:stretch xmlns:a="http://schemas.openxmlformats.org/drawingml/2006/main"/>
        </p:blipFill>
        <p:spPr>
          <a:xfrm xmlns:a="http://schemas.openxmlformats.org/drawingml/2006/main">
            <a:off x="4467225" y="1962150"/>
            <a:ext cx="1257300" cy="1257300"/>
          </a:xfrm>
          <a:prstGeom xmlns:a="http://schemas.openxmlformats.org/drawingml/2006/main" prst="rect">
            <a:avLst/>
          </a:prstGeom>
        </p:spPr>
      </p:pic>
      <p:sp>
        <p:nvSpPr>
          <p:cNvPr id="14" name="map-metrics-gradcam">
            <a:extLst xmlns:a="http://schemas.openxmlformats.org/drawingml/2006/main">
              <a:ext uri="{FF2B5EF4-FFF2-40B4-BE49-F238E27FC236}">
                <a16:creationId xmlns:a16="http://schemas.microsoft.com/office/drawing/2014/main" id="{8E77DB3A-A342-41E0-82AA-A7EF674A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038350"/>
            <a:ext cx="1885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</a:pPr>
            <a:r>
              <a: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rPr>
              <a:t>raw MoRF AUC  0.610</a:t>
            </a:r>
          </a:p>
          <a:p xmlns:a="http://schemas.openxmlformats.org/drawingml/2006/main">
            <a:pPr algn="l">
              <a:buNone/>
            </a:pPr>
            <a:r>
              <a: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rPr>
              <a:t>noise Spearman  0.998</a:t>
            </a:r>
          </a:p>
          <a:p xmlns:a="http://schemas.openxmlformats.org/drawingml/2006/main">
            <a:pPr algn="l">
              <a:buNone/>
            </a:pPr>
            <a:r>
              <a: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rPr>
              <a:t>记录耗时  24.4 ms</a:t>
            </a:r>
          </a:p>
        </p:txBody>
      </p:sp>
      <p:sp>
        <p:nvSpPr>
          <p:cNvPr id="15" name="map-hashes-gradcam">
            <a:extLst xmlns:a="http://schemas.openxmlformats.org/drawingml/2006/main">
              <a:ext uri="{FF2B5EF4-FFF2-40B4-BE49-F238E27FC236}">
                <a16:creationId xmlns:a16="http://schemas.microsoft.com/office/drawing/2014/main" id="{C3DDD057-3429-4BF5-A2BB-E74B4CDC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91465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</a:pPr>
            <a:r>
              <a: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rPr>
              <a:t>PNG SHA  a74467edc833…</a:t>
            </a:r>
          </a:p>
          <a:p xmlns:a="http://schemas.openxmlformats.org/drawingml/2006/main">
            <a:pPr algn="l">
              <a:buNone/>
            </a:pPr>
            <a:r>
              <a: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rPr>
              <a:t>NPY SHA  56f9fb5bb5d0…</a:t>
            </a:r>
          </a:p>
        </p:txBody>
      </p:sp>
      <p:sp>
        <p:nvSpPr>
          <p:cNvPr id="16" name="map-card-occlusion">
            <a:extLst xmlns:a="http://schemas.openxmlformats.org/drawingml/2006/main">
              <a:ext uri="{FF2B5EF4-FFF2-40B4-BE49-F238E27FC236}">
                <a16:creationId xmlns:a16="http://schemas.microsoft.com/office/drawing/2014/main" id="{08A49C7E-5F0B-4390-A499-DD82AA61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504950"/>
            <a:ext cx="3619500" cy="1981200"/>
          </a:xfrm>
          <a:prstGeom xmlns:a="http://schemas.openxmlformats.org/drawingml/2006/main" prst="roundRect">
            <a:avLst>
              <a:gd name="adj" fmla="val 72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17" name="map-method-occlusion">
            <a:extLst xmlns:a="http://schemas.openxmlformats.org/drawingml/2006/main">
              <a:ext uri="{FF2B5EF4-FFF2-40B4-BE49-F238E27FC236}">
                <a16:creationId xmlns:a16="http://schemas.microsoft.com/office/drawing/2014/main" id="{349D2AD0-469C-4159-93F6-69DB5BF9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61925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</a:pPr>
            <a:r>
              <a: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Occlusion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E1E2FB-AE7E-47C2-90DF-3D50012AC6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62782dd8b64862"/>
          <a:stretch xmlns:a="http://schemas.openxmlformats.org/drawingml/2006/main"/>
        </p:blipFill>
        <p:spPr>
          <a:xfrm xmlns:a="http://schemas.openxmlformats.org/drawingml/2006/main">
            <a:off x="8277225" y="1962150"/>
            <a:ext cx="1257300" cy="1257300"/>
          </a:xfrm>
          <a:prstGeom xmlns:a="http://schemas.openxmlformats.org/drawingml/2006/main" prst="rect">
            <a:avLst/>
          </a:prstGeom>
        </p:spPr>
      </p:pic>
      <p:sp>
        <p:nvSpPr>
          <p:cNvPr id="19" name="map-metrics-occlusion">
            <a:extLst xmlns:a="http://schemas.openxmlformats.org/drawingml/2006/main">
              <a:ext uri="{FF2B5EF4-FFF2-40B4-BE49-F238E27FC236}">
                <a16:creationId xmlns:a16="http://schemas.microsoft.com/office/drawing/2014/main" id="{32B5835E-F447-4D60-8914-04F1E0C8A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038350"/>
            <a:ext cx="1885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</a:pPr>
            <a:r>
              <a: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rPr>
              <a:t>raw MoRF AUC  0.861</a:t>
            </a:r>
          </a:p>
          <a:p xmlns:a="http://schemas.openxmlformats.org/drawingml/2006/main">
            <a:pPr algn="l">
              <a:buNone/>
            </a:pPr>
            <a:r>
              <a: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rPr>
              <a:t>noise Spearman  0.846</a:t>
            </a:r>
          </a:p>
          <a:p xmlns:a="http://schemas.openxmlformats.org/drawingml/2006/main">
            <a:pPr algn="l">
              <a:buNone/>
            </a:pPr>
            <a:r>
              <a: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rPr>
              <a:t>记录耗时  148.4 ms</a:t>
            </a:r>
          </a:p>
        </p:txBody>
      </p:sp>
      <p:sp>
        <p:nvSpPr>
          <p:cNvPr id="20" name="map-hashes-occlusion">
            <a:extLst xmlns:a="http://schemas.openxmlformats.org/drawingml/2006/main">
              <a:ext uri="{FF2B5EF4-FFF2-40B4-BE49-F238E27FC236}">
                <a16:creationId xmlns:a16="http://schemas.microsoft.com/office/drawing/2014/main" id="{6572615A-6AC2-4E24-9666-E12CD719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91465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</a:pPr>
            <a:r>
              <a: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rPr>
              <a:t>PNG SHA  299768c94752…</a:t>
            </a:r>
          </a:p>
          <a:p xmlns:a="http://schemas.openxmlformats.org/drawingml/2006/main">
            <a:pPr algn="l">
              <a:buNone/>
            </a:pPr>
            <a:r>
              <a: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rPr>
              <a:t>NPY SHA  83eeca554762…</a:t>
            </a:r>
          </a:p>
        </p:txBody>
      </p:sp>
      <p:sp>
        <p:nvSpPr>
          <p:cNvPr id="21" name="map-card-rise">
            <a:extLst xmlns:a="http://schemas.openxmlformats.org/drawingml/2006/main">
              <a:ext uri="{FF2B5EF4-FFF2-40B4-BE49-F238E27FC236}">
                <a16:creationId xmlns:a16="http://schemas.microsoft.com/office/drawing/2014/main" id="{5E072430-7CC6-492A-BDB7-42244152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0"/>
            <a:ext cx="3619500" cy="1981200"/>
          </a:xfrm>
          <a:prstGeom xmlns:a="http://schemas.openxmlformats.org/drawingml/2006/main" prst="roundRect">
            <a:avLst>
              <a:gd name="adj" fmla="val 72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22" name="map-method-rise">
            <a:extLst xmlns:a="http://schemas.openxmlformats.org/drawingml/2006/main">
              <a:ext uri="{FF2B5EF4-FFF2-40B4-BE49-F238E27FC236}">
                <a16:creationId xmlns:a16="http://schemas.microsoft.com/office/drawing/2014/main" id="{986FC218-E708-4C8F-A135-A05E8AF5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73380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</a:pPr>
            <a:r>
              <a: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RISE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E11304-3FFF-4FDC-BCF7-706C2A3804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005672cd004d94"/>
          <a:stretch xmlns:a="http://schemas.openxmlformats.org/drawingml/2006/main"/>
        </p:blipFill>
        <p:spPr>
          <a:xfrm xmlns:a="http://schemas.openxmlformats.org/drawingml/2006/main">
            <a:off x="657225" y="4076700"/>
            <a:ext cx="1257300" cy="1257300"/>
          </a:xfrm>
          <a:prstGeom xmlns:a="http://schemas.openxmlformats.org/drawingml/2006/main" prst="rect">
            <a:avLst/>
          </a:prstGeom>
        </p:spPr>
      </p:pic>
      <p:sp>
        <p:nvSpPr>
          <p:cNvPr id="24" name="map-metrics-rise">
            <a:extLst xmlns:a="http://schemas.openxmlformats.org/drawingml/2006/main">
              <a:ext uri="{FF2B5EF4-FFF2-40B4-BE49-F238E27FC236}">
                <a16:creationId xmlns:a16="http://schemas.microsoft.com/office/drawing/2014/main" id="{6C3E4668-5F12-46FE-A448-7356AD1C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152900"/>
            <a:ext cx="1885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</a:pPr>
            <a:r>
              <a: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rPr>
              <a:t>raw MoRF AUC  0.618</a:t>
            </a:r>
          </a:p>
          <a:p xmlns:a="http://schemas.openxmlformats.org/drawingml/2006/main">
            <a:pPr algn="l">
              <a:buNone/>
            </a:pPr>
            <a:r>
              <a: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rPr>
              <a:t>noise Spearman  1.000</a:t>
            </a:r>
          </a:p>
          <a:p xmlns:a="http://schemas.openxmlformats.org/drawingml/2006/main">
            <a:pPr algn="l">
              <a:buNone/>
            </a:pPr>
            <a:r>
              <a: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rPr>
              <a:t>记录耗时  2179.3 ms</a:t>
            </a:r>
          </a:p>
        </p:txBody>
      </p:sp>
      <p:sp>
        <p:nvSpPr>
          <p:cNvPr id="25" name="map-hashes-rise">
            <a:extLst xmlns:a="http://schemas.openxmlformats.org/drawingml/2006/main">
              <a:ext uri="{FF2B5EF4-FFF2-40B4-BE49-F238E27FC236}">
                <a16:creationId xmlns:a16="http://schemas.microsoft.com/office/drawing/2014/main" id="{C3F843D2-BAAF-48E0-A587-51C17F87F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0292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</a:pPr>
            <a:r>
              <a: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rPr>
              <a:t>PNG SHA  b874a64e1a84…</a:t>
            </a:r>
          </a:p>
          <a:p xmlns:a="http://schemas.openxmlformats.org/drawingml/2006/main">
            <a:pPr algn="l">
              <a:buNone/>
            </a:pPr>
            <a:r>
              <a: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rPr>
              <a:t>NPY SHA  83a2d6e6f0b2…</a:t>
            </a:r>
          </a:p>
        </p:txBody>
      </p:sp>
      <p:sp>
        <p:nvSpPr>
          <p:cNvPr id="26" name="map-card-kernelshap">
            <a:extLst xmlns:a="http://schemas.openxmlformats.org/drawingml/2006/main">
              <a:ext uri="{FF2B5EF4-FFF2-40B4-BE49-F238E27FC236}">
                <a16:creationId xmlns:a16="http://schemas.microsoft.com/office/drawing/2014/main" id="{292358ED-F769-49BC-9761-35988605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19500"/>
            <a:ext cx="3619500" cy="1981200"/>
          </a:xfrm>
          <a:prstGeom xmlns:a="http://schemas.openxmlformats.org/drawingml/2006/main" prst="roundRect">
            <a:avLst>
              <a:gd name="adj" fmla="val 72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27" name="map-method-kernelshap">
            <a:extLst xmlns:a="http://schemas.openxmlformats.org/drawingml/2006/main">
              <a:ext uri="{FF2B5EF4-FFF2-40B4-BE49-F238E27FC236}">
                <a16:creationId xmlns:a16="http://schemas.microsoft.com/office/drawing/2014/main" id="{0A81BD9F-815B-4722-906C-A35A97278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73380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</a:pPr>
            <a:r>
              <a: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KernelSHAP</a:t>
            </a:r>
          </a:p>
        </p:txBody>
      </p:sp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768FB2-E136-43AF-B564-38074135C8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5c04bf438a4d94"/>
          <a:stretch xmlns:a="http://schemas.openxmlformats.org/drawingml/2006/main"/>
        </p:blipFill>
        <p:spPr>
          <a:xfrm xmlns:a="http://schemas.openxmlformats.org/drawingml/2006/main">
            <a:off x="4467225" y="4076700"/>
            <a:ext cx="1257300" cy="1257300"/>
          </a:xfrm>
          <a:prstGeom xmlns:a="http://schemas.openxmlformats.org/drawingml/2006/main" prst="rect">
            <a:avLst/>
          </a:prstGeom>
        </p:spPr>
      </p:pic>
      <p:sp>
        <p:nvSpPr>
          <p:cNvPr id="29" name="map-metrics-kernelshap">
            <a:extLst xmlns:a="http://schemas.openxmlformats.org/drawingml/2006/main">
              <a:ext uri="{FF2B5EF4-FFF2-40B4-BE49-F238E27FC236}">
                <a16:creationId xmlns:a16="http://schemas.microsoft.com/office/drawing/2014/main" id="{655C49F6-C056-436C-B066-5887B52DF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152900"/>
            <a:ext cx="1885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</a:pPr>
            <a:r>
              <a: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rPr>
              <a:t>raw MoRF AUC  0.559</a:t>
            </a:r>
          </a:p>
          <a:p xmlns:a="http://schemas.openxmlformats.org/drawingml/2006/main">
            <a:pPr algn="l">
              <a:buNone/>
            </a:pPr>
            <a:r>
              <a: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rPr>
              <a:t>noise Spearman  0.992</a:t>
            </a:r>
          </a:p>
          <a:p xmlns:a="http://schemas.openxmlformats.org/drawingml/2006/main">
            <a:pPr algn="l">
              <a:buNone/>
            </a:pPr>
            <a:r>
              <a: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rPr>
              <a:t>记录耗时  2166.2 ms</a:t>
            </a:r>
          </a:p>
        </p:txBody>
      </p:sp>
      <p:sp>
        <p:nvSpPr>
          <p:cNvPr id="30" name="map-hashes-kernelshap">
            <a:extLst xmlns:a="http://schemas.openxmlformats.org/drawingml/2006/main">
              <a:ext uri="{FF2B5EF4-FFF2-40B4-BE49-F238E27FC236}">
                <a16:creationId xmlns:a16="http://schemas.microsoft.com/office/drawing/2014/main" id="{E10345B0-2C2F-460D-9451-4D810424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292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</a:pPr>
            <a:r>
              <a: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rPr>
              <a:t>PNG SHA  3161f305ad4f…</a:t>
            </a:r>
          </a:p>
          <a:p xmlns:a="http://schemas.openxmlformats.org/drawingml/2006/main">
            <a:pPr algn="l">
              <a:buNone/>
            </a:pPr>
            <a:r>
              <a: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rPr>
              <a:t>NPY SHA  52cebc5ce45f…</a:t>
            </a:r>
          </a:p>
        </p:txBody>
      </p:sp>
      <p:sp>
        <p:nvSpPr>
          <p:cNvPr id="31" name="map-card-lime">
            <a:extLst xmlns:a="http://schemas.openxmlformats.org/drawingml/2006/main">
              <a:ext uri="{FF2B5EF4-FFF2-40B4-BE49-F238E27FC236}">
                <a16:creationId xmlns:a16="http://schemas.microsoft.com/office/drawing/2014/main" id="{048A5692-06C9-4710-9F9F-01BC421D1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19500"/>
            <a:ext cx="3619500" cy="1981200"/>
          </a:xfrm>
          <a:prstGeom xmlns:a="http://schemas.openxmlformats.org/drawingml/2006/main" prst="roundRect">
            <a:avLst>
              <a:gd name="adj" fmla="val 72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32" name="map-method-lime">
            <a:extLst xmlns:a="http://schemas.openxmlformats.org/drawingml/2006/main">
              <a:ext uri="{FF2B5EF4-FFF2-40B4-BE49-F238E27FC236}">
                <a16:creationId xmlns:a16="http://schemas.microsoft.com/office/drawing/2014/main" id="{622D2F8F-A284-4F35-8E5A-66C57613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73380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</a:pPr>
            <a:r>
              <a: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LIME-8000</a:t>
            </a:r>
          </a:p>
        </p:txBody>
      </p:sp>
      <p:pic>
        <p:nvPic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D2464C-D9A7-43FD-BB5F-617CB9D52D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39c433c9f24189"/>
          <a:stretch xmlns:a="http://schemas.openxmlformats.org/drawingml/2006/main"/>
        </p:blipFill>
        <p:spPr>
          <a:xfrm xmlns:a="http://schemas.openxmlformats.org/drawingml/2006/main">
            <a:off x="8277225" y="4076700"/>
            <a:ext cx="1257300" cy="1257300"/>
          </a:xfrm>
          <a:prstGeom xmlns:a="http://schemas.openxmlformats.org/drawingml/2006/main" prst="rect">
            <a:avLst/>
          </a:prstGeom>
        </p:spPr>
      </p:pic>
      <p:sp>
        <p:nvSpPr>
          <p:cNvPr id="34" name="map-metrics-lime">
            <a:extLst xmlns:a="http://schemas.openxmlformats.org/drawingml/2006/main">
              <a:ext uri="{FF2B5EF4-FFF2-40B4-BE49-F238E27FC236}">
                <a16:creationId xmlns:a16="http://schemas.microsoft.com/office/drawing/2014/main" id="{48EA8DB1-699C-406D-882A-7E99467E8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152900"/>
            <a:ext cx="1885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</a:pPr>
            <a:r>
              <a: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rPr>
              <a:t>raw MoRF AUC  0.563</a:t>
            </a:r>
          </a:p>
          <a:p xmlns:a="http://schemas.openxmlformats.org/drawingml/2006/main">
            <a:pPr algn="l">
              <a:buNone/>
            </a:pPr>
            <a:r>
              <a: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rPr>
              <a:t>noise Spearman  0.725</a:t>
            </a:r>
          </a:p>
          <a:p xmlns:a="http://schemas.openxmlformats.org/drawingml/2006/main">
            <a:pPr algn="l">
              <a:buNone/>
            </a:pPr>
            <a:r>
              <a: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rPr>
              <a:t>记录耗时  4212.6 ms</a:t>
            </a:r>
          </a:p>
        </p:txBody>
      </p:sp>
      <p:sp>
        <p:nvSpPr>
          <p:cNvPr id="35" name="map-hashes-lime">
            <a:extLst xmlns:a="http://schemas.openxmlformats.org/drawingml/2006/main">
              <a:ext uri="{FF2B5EF4-FFF2-40B4-BE49-F238E27FC236}">
                <a16:creationId xmlns:a16="http://schemas.microsoft.com/office/drawing/2014/main" id="{F9545EC2-18F5-4FA9-A261-E7EA3F0C2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0292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</a:pPr>
            <a:r>
              <a: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rPr>
              <a:t>PNG SHA  4102085d8ed8…</a:t>
            </a:r>
          </a:p>
          <a:p xmlns:a="http://schemas.openxmlformats.org/drawingml/2006/main">
            <a:pPr algn="l">
              <a:buNone/>
            </a:pPr>
            <a:r>
              <a: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rPr>
              <a:t>NPY SHA  cf21ef209907…</a:t>
            </a:r>
          </a:p>
        </p:txBody>
      </p:sp>
      <p:sp>
        <p:nvSpPr>
          <p:cNvPr id="36" name="map-slide-note">
            <a:extLst xmlns:a="http://schemas.openxmlformats.org/drawingml/2006/main">
              <a:ext uri="{FF2B5EF4-FFF2-40B4-BE49-F238E27FC236}">
                <a16:creationId xmlns:a16="http://schemas.microsoft.com/office/drawing/2014/main" id="{7B36D3F2-7B61-4188-A493-F39942DF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91200"/>
            <a:ext cx="1108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0">
                <a:solidFill>
                  <a:srgbClr val="66758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050" b="0">
                <a:solidFill>
                  <a:srgbClr val="66758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050" b="0">
                <a:solidFill>
                  <a:srgbClr val="66758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050" b="0">
                <a:solidFill>
                  <a:srgbClr val="66758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050" b="0">
                <a:solidFill>
                  <a:srgbClr val="66758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050" b="0">
                <a:solidFill>
                  <a:srgbClr val="66758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050" b="0">
                <a:solidFill>
                  <a:srgbClr val="66758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050" b="0">
                <a:solidFill>
                  <a:srgbClr val="66758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050" b="0">
                <a:solidFill>
                  <a:srgbClr val="66758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050" b="0">
                <a:solidFill>
                  <a:srgbClr val="66758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</a:pPr>
            <a:r>
              <a:rPr sz="1050" b="0">
                <a:solidFill>
                  <a:srgbClr val="66758E"/>
                </a:solidFill>
                <a:latin typeface="PingFang SC"/>
                <a:ea typeface="PingFang SC"/>
                <a:cs typeface="PingFang SC"/>
              </a:rPr>
              <a:t>PNG 为归档提供的灰度预览；不按灰度强度跨方法排序。定量结果来自 float32 NPY；完整 SHA、sidecar 与配置索引见固定 Demo。</a:t>
            </a:r>
          </a:p>
        </p:txBody>
      </p:sp>
      <p:sp>
        <p:nvSpPr>
          <p:cNvPr id="37" name="map-slide-footer-rule">
            <a:extLst xmlns:a="http://schemas.openxmlformats.org/drawingml/2006/main">
              <a:ext uri="{FF2B5EF4-FFF2-40B4-BE49-F238E27FC236}">
                <a16:creationId xmlns:a16="http://schemas.microsoft.com/office/drawing/2014/main" id="{2B3EC499-0CDB-4D62-8427-8EE35804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96050"/>
            <a:ext cx="1123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B"/>
            </a:solidFill>
            <a:prstDash val="solid"/>
          </a:ln>
        </p:spPr>
      </p:sp>
      <p:sp>
        <p:nvSpPr>
          <p:cNvPr id="38" name="map-slide-footer">
            <a:extLst xmlns:a="http://schemas.openxmlformats.org/drawingml/2006/main">
              <a:ext uri="{FF2B5EF4-FFF2-40B4-BE49-F238E27FC236}">
                <a16:creationId xmlns:a16="http://schemas.microsoft.com/office/drawing/2014/main" id="{4079DF55-83FD-4A0C-BCC5-40892A06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825" b="0">
                <a:solidFill>
                  <a:srgbClr val="77849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825" b="0">
                <a:solidFill>
                  <a:srgbClr val="77849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825" b="0">
                <a:solidFill>
                  <a:srgbClr val="77849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825" b="0">
                <a:solidFill>
                  <a:srgbClr val="77849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825" b="0">
                <a:solidFill>
                  <a:srgbClr val="77849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825" b="0">
                <a:solidFill>
                  <a:srgbClr val="77849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825" b="0">
                <a:solidFill>
                  <a:srgbClr val="77849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825" b="0">
                <a:solidFill>
                  <a:srgbClr val="77849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825" b="0">
                <a:solidFill>
                  <a:srgbClr val="77849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825" b="0">
                <a:solidFill>
                  <a:srgbClr val="77849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</a:pPr>
            <a:r>
              <a:rPr sz="825" b="0">
                <a:solidFill>
                  <a:srgbClr val="77849A"/>
                </a:solidFill>
                <a:latin typeface="PingFang SC"/>
                <a:ea typeface="PingFang SC"/>
                <a:cs typeface="PingFang SC"/>
              </a:rPr>
              <a:t>GO3-XAI01-04  ·  E / M5  ·  工作草稿</a:t>
            </a:r>
          </a:p>
        </p:txBody>
      </p:sp>
      <p:sp>
        <p:nvSpPr>
          <p:cNvPr id="39" name="map-slide-page-number">
            <a:extLst xmlns:a="http://schemas.openxmlformats.org/drawingml/2006/main">
              <a:ext uri="{FF2B5EF4-FFF2-40B4-BE49-F238E27FC236}">
                <a16:creationId xmlns:a16="http://schemas.microsoft.com/office/drawing/2014/main" id="{15AE9E29-8130-44CC-A6F1-624F9D274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341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900" b="1">
                <a:solidFill>
                  <a:srgbClr val="77849A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900" b="1">
                <a:solidFill>
                  <a:srgbClr val="77849A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900" b="1">
                <a:solidFill>
                  <a:srgbClr val="77849A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900" b="1">
                <a:solidFill>
                  <a:srgbClr val="77849A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900" b="1">
                <a:solidFill>
                  <a:srgbClr val="77849A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900" b="1">
                <a:solidFill>
                  <a:srgbClr val="77849A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900" b="1">
                <a:solidFill>
                  <a:srgbClr val="77849A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900" b="1">
                <a:solidFill>
                  <a:srgbClr val="77849A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900" b="1">
                <a:solidFill>
                  <a:srgbClr val="77849A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900" b="1">
                <a:solidFill>
                  <a:srgbClr val="77849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buNone/>
            </a:pPr>
            <a:r>
              <a:rPr sz="900" b="1">
                <a:solidFill>
                  <a:srgbClr val="77849A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951456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7485BB-6C09-411E-955B-FA7CB767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rPr>
              <a:t>CLOSE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03270E-6C81-4E7F-BEFA-50813383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rPr>
              <a:t>答辩结论：按目标选方法，展示图必须带来源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16E7AC-108E-45CB-8BB4-8E13E8EF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1917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展示案例已按规则选定；独立环境演练和交付回执仍待完成。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FAEAAC-1275-4575-8921-F13F3E79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76375"/>
            <a:ext cx="11001375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EB6192-DBDB-4D71-9662-D8BAF8BEB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09725"/>
            <a:ext cx="714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01011A-776A-4BC4-9E99-11082A76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00200"/>
            <a:ext cx="962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IG 的平均 raw MoRF AUC 在六组中的五组最低；ImageNet / DenseNet121 是例外，均值差 CI 跨零。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B99D89-329E-43EF-BC2D-9442EC0AB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86025"/>
            <a:ext cx="11001375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AB37BD-F6B2-4154-9A53-FF17345D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19375"/>
            <a:ext cx="714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E3C0D0-9699-484C-9064-6C686375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09850"/>
            <a:ext cx="962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RISE 的平均噪声稳定性在六组均最高；稳定不等于忠实性最佳。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B05E53-5F0C-4C3B-9DAC-696DDA4D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95675"/>
            <a:ext cx="11001375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E4C9AF-CA09-42FF-B37A-6D63EDBD2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29025"/>
            <a:ext cx="714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6781DE-7944-4881-A4E2-4490684E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19500"/>
            <a:ext cx="962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质量前沿随数据与模型改变；没有跨指标、跨单元的统一冠军。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AD7F3A-A4A7-4979-A2A9-3822C8CFD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24400"/>
            <a:ext cx="11001375" cy="1209675"/>
          </a:xfrm>
          <a:prstGeom xmlns:a="http://schemas.openxmlformats.org/drawingml/2006/main" prst="roundRect">
            <a:avLst>
              <a:gd name="adj" fmla="val 9449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9525">
            <a:solidFill>
              <a:srgbClr val="F0D7A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2FC195-6BD0-46D7-8855-17EDBF5F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75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75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75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75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75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75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75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75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75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rPr>
              <a:t>最终交付还剩两项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EF0FC2-BF2D-467D-A271-1AE87607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970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本地稿已确定 215 / 3803 / 7612 及其选择规则；Issue #22 待同步。之后完成独立环境演练，记录原图和每例 6/6 地图加载。Demo 只含正式 PNG 预览与来源哈希，不含完整 NPY、数据集或权重。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136BEB-3E64-4FF5-BBF0-CFEB2AA5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960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45D9C5-5B2A-4B57-98C4-6E541D3E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GO3-XAI01-04  ·  E / M5  ·  工作草稿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DE7A90-D3AF-4292-8953-68400290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341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995676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2026-10-28T07:55:00.8490000Z</dcterms:created>
  <dcterms:modified xsi:type="dcterms:W3CDTF">2026-10-28T07:55:00.8490000Z</dcterms:modified>
</coreProperties>
</file>