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e0dd5336d24c2d" /><Relationship Type="http://schemas.openxmlformats.org/officeDocument/2006/relationships/extended-properties" Target="/docProps/app.xml" Id="Rbea631b779824d46" /><Relationship Type="http://schemas.openxmlformats.org/officeDocument/2006/relationships/officeDocument" Target="/ppt/presentation.xml" Id="R945919cdf26f49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b7b284c6a54354"/>
  </p:sldMasterIdLst>
  <p:notesMasterIdLst>
    <p:notesMasterId xmlns:r="http://schemas.openxmlformats.org/officeDocument/2006/relationships" r:id="R08f7763217944bfb"/>
  </p:notesMasterIdLst>
  <p:sldIdLst>
    <p:sldId xmlns:r="http://schemas.openxmlformats.org/officeDocument/2006/relationships" id="256" r:id="R2914973cfbed4ef4"/>
    <p:sldId xmlns:r="http://schemas.openxmlformats.org/officeDocument/2006/relationships" id="257" r:id="Rf223f3c4bee54eed"/>
    <p:sldId xmlns:r="http://schemas.openxmlformats.org/officeDocument/2006/relationships" id="258" r:id="Rf603310a108b4cb1"/>
    <p:sldId xmlns:r="http://schemas.openxmlformats.org/officeDocument/2006/relationships" id="259" r:id="Rb6d60bb017a14586"/>
    <p:sldId xmlns:r="http://schemas.openxmlformats.org/officeDocument/2006/relationships" id="260" r:id="Ra6ffc87dcc1b407f"/>
    <p:sldId xmlns:r="http://schemas.openxmlformats.org/officeDocument/2006/relationships" id="261" r:id="Rd80b9dd20d184e4c"/>
    <p:sldId xmlns:r="http://schemas.openxmlformats.org/officeDocument/2006/relationships" id="262" r:id="R5182c4db5ad743c0"/>
    <p:sldId xmlns:r="http://schemas.openxmlformats.org/officeDocument/2006/relationships" id="263" r:id="R24cf86d3c60a4975"/>
    <p:sldId xmlns:r="http://schemas.openxmlformats.org/officeDocument/2006/relationships" id="264" r:id="R604b320f11454550"/>
    <p:sldId xmlns:r="http://schemas.openxmlformats.org/officeDocument/2006/relationships" id="265" r:id="Rc15a109cbec34e02"/>
    <p:sldId xmlns:r="http://schemas.openxmlformats.org/officeDocument/2006/relationships" id="266" r:id="Rc00ea1447e8c48ba"/>
    <p:sldId xmlns:r="http://schemas.openxmlformats.org/officeDocument/2006/relationships" id="267" r:id="R08885e4247284f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08104692f641f2" /><Relationship Type="http://schemas.openxmlformats.org/officeDocument/2006/relationships/slideMaster" Target="/ppt/slideMasters/slideMaster1.xml" Id="R22b7b284c6a54354" /><Relationship Type="http://schemas.openxmlformats.org/officeDocument/2006/relationships/notesMaster" Target="/ppt/notesMasters/notesMaster1.xml" Id="R08f7763217944bfb" /><Relationship Type="http://schemas.openxmlformats.org/officeDocument/2006/relationships/presProps" Target="/ppt/presProps.xml" Id="R940857b3e0cc4475" /><Relationship Type="http://schemas.openxmlformats.org/officeDocument/2006/relationships/tableStyles" Target="/ppt/tableStyles.xml" Id="R015a402390b748d2" /><Relationship Type="http://schemas.openxmlformats.org/officeDocument/2006/relationships/slide" Target="/ppt/slides/slide1.xml" Id="R2914973cfbed4ef4" /><Relationship Type="http://schemas.openxmlformats.org/officeDocument/2006/relationships/slide" Target="/ppt/slides/slide2.xml" Id="Rf223f3c4bee54eed" /><Relationship Type="http://schemas.openxmlformats.org/officeDocument/2006/relationships/slide" Target="/ppt/slides/slide3.xml" Id="Rf603310a108b4cb1" /><Relationship Type="http://schemas.openxmlformats.org/officeDocument/2006/relationships/slide" Target="/ppt/slides/slide4.xml" Id="Rb6d60bb017a14586" /><Relationship Type="http://schemas.openxmlformats.org/officeDocument/2006/relationships/slide" Target="/ppt/slides/slide5.xml" Id="Ra6ffc87dcc1b407f" /><Relationship Type="http://schemas.openxmlformats.org/officeDocument/2006/relationships/slide" Target="/ppt/slides/slide6.xml" Id="Rd80b9dd20d184e4c" /><Relationship Type="http://schemas.openxmlformats.org/officeDocument/2006/relationships/slide" Target="/ppt/slides/slide7.xml" Id="R5182c4db5ad743c0" /><Relationship Type="http://schemas.openxmlformats.org/officeDocument/2006/relationships/slide" Target="/ppt/slides/slide8.xml" Id="R24cf86d3c60a4975" /><Relationship Type="http://schemas.openxmlformats.org/officeDocument/2006/relationships/slide" Target="/ppt/slides/slide9.xml" Id="R604b320f11454550" /><Relationship Type="http://schemas.openxmlformats.org/officeDocument/2006/relationships/slide" Target="/ppt/slides/slide10.xml" Id="Rc15a109cbec34e02" /><Relationship Type="http://schemas.openxmlformats.org/officeDocument/2006/relationships/slide" Target="/ppt/slides/slide11.xml" Id="Rc00ea1447e8c48ba" /><Relationship Type="http://schemas.openxmlformats.org/officeDocument/2006/relationships/slide" Target="/ppt/slides/slide12.xml" Id="R08885e4247284f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ec6a291a34b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4310c5c05c4a2a" /><Relationship Type="http://schemas.openxmlformats.org/officeDocument/2006/relationships/notesMaster" Target="/ppt/notesMasters/notesMaster1.xml" Id="R758569a8a66a41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e75b3d692e4dcb" /><Relationship Type="http://schemas.openxmlformats.org/officeDocument/2006/relationships/notesMaster" Target="/ppt/notesMasters/notesMaster1.xml" Id="Rcbeaa3bc184f41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fcf5450cba4955" /><Relationship Type="http://schemas.openxmlformats.org/officeDocument/2006/relationships/notesMaster" Target="/ppt/notesMasters/notesMaster1.xml" Id="R35eb37ba1cb7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3120eb26564ae2" /><Relationship Type="http://schemas.openxmlformats.org/officeDocument/2006/relationships/notesMaster" Target="/ppt/notesMasters/notesMaster1.xml" Id="R3cf285b685ea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4368e33df340a7" /><Relationship Type="http://schemas.openxmlformats.org/officeDocument/2006/relationships/notesMaster" Target="/ppt/notesMasters/notesMaster1.xml" Id="R385db3fba1604a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7b9e251d244255" /><Relationship Type="http://schemas.openxmlformats.org/officeDocument/2006/relationships/notesMaster" Target="/ppt/notesMasters/notesMaster1.xml" Id="R95244d0eb7a140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81dd52a160485f" /><Relationship Type="http://schemas.openxmlformats.org/officeDocument/2006/relationships/notesMaster" Target="/ppt/notesMasters/notesMaster1.xml" Id="R7bdff5e2e7de43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4801280a444175" /><Relationship Type="http://schemas.openxmlformats.org/officeDocument/2006/relationships/notesMaster" Target="/ppt/notesMasters/notesMaster1.xml" Id="R5c70efd3976943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50467bbf194399" /><Relationship Type="http://schemas.openxmlformats.org/officeDocument/2006/relationships/notesMaster" Target="/ppt/notesMasters/notesMaster1.xml" Id="R3082c7d2e88b46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052c66bb594ddf" /><Relationship Type="http://schemas.openxmlformats.org/officeDocument/2006/relationships/notesMaster" Target="/ppt/notesMasters/notesMaster1.xml" Id="Rb0d581baf97543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c95841214d46d2" /><Relationship Type="http://schemas.openxmlformats.org/officeDocument/2006/relationships/notesMaster" Target="/ppt/notesMasters/notesMaster1.xml" Id="Rab26f75f6b4c45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e07a82b9c24fae" /><Relationship Type="http://schemas.openxmlformats.org/officeDocument/2006/relationships/notesMaster" Target="/ppt/notesMasters/notesMaster1.xml" Id="R36ef3fe2c1224e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E/M5 展示稿 v6，案例 215/3803/7612 已由 E 在 #22 确认并通过 Draft PR #26 提交。当前包含 D 10/15 正式统计与 10/28 方法×模型阶段重复测量结果；后者来源 docs/D_M5_REPEATED_MEASURES_20261028.md at cc33be7f3726dc6d5461d0c551d66d3fc91591d0。完整三因素 ANOVA、独立交付演练和全组最终结论冻结仍未完成。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 单元 = 2 数据集 × 3 CNN × 6 方法；每单元 460 张 eval。主分析 model_correct 样本量为 ImageNet 408/371/363、VOC 387/388/400（ResNet50/DenseNet121/VGG16）。跨模型按 common_correct 332/353 张。来源：docs/DCU_STATISTICAL_ANALYSIS_20261015.md。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 analysis/dcu_20261015/six_method_means.png。主分析是各模型 model_correct 子集；图中 95% 区间是条件于类别和命中组的边际均值区间，不是标准差。AUC 在五组由 IG 均值最低；ImageNet/DenseNet121 例外，KernelSHAP 0.05013、IG 0.05325，均值差 CI 跨零。RISE 稳定性六组均值最高。wrapper time 来自共享负载两轮，不能作为受控跨 GPU 加速排名。来源：docs/DCU_STATISTICAL_ANALYSIS_20261015.md。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新增阶段结果来源：docs/D_M5_REPEATED_MEASURES_20261028.md 与 analysis/dcu_20261028/repeated_measures.json，固定 Git 提交 cc33be7f3726dc6d5461d0c551d66d3fc91591d0。图源 analysis/dcu_20261028/method_model_profiles.png，SHA-256 565841f341b460018be5d163676833d37a132693934d2b27389c6ca6cc5b14c2。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主分析为三模型共同命中图像：ImageNet n=332、VOC n=353。对每数据集分别做方法×模型重复测量检验；图中为类别分层原图 bootstrap 的边际95% CI，不是 SD 或同时区间。GG 自由度修正与每 cohort 12 项全局质量检验族 Holm 校正。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ImageNet AUC：F=270.8112, GG ε=.30154, Holm p=2.847e-128, 偏η²=.44999；稳定性：F=181.2236, ε=.35957, p=5.13e-111, 偏η²=.35380。VOC AUC：F=49.7750, ε=.55699, p=3.168e-53, 偏η²=.12389；稳定性：F=561.8913, ε=.37318, p=1.624e-269, 偏η²=.61483。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解释：全局交互说明方法相对差异随这三套冻结模型改变，不证明某一方法对所有架构都更优。具体例为 VOC/AUC 中 IG 相对 KernelSHAP 的 ResNet50−DenseNet121 差中差 +.014942；类别分层95% CI [.003176,.026916]，IID 原图95% CI [−.006141,.035535]，直接配对秩 Holm p=.8374。须保留区间敏感性，不从全局交互推导所有具体方法对显著。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范围限制：这是按数据集分开的双因子阶段分析；数据集主效应、数据集×方法/模型及三重交互尚未完成。C 独立复核、A/E 最终合稿和课程验收仍待完成。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 analysis/dcu_20261015/quality_pareto.png。填充点代表双目标质量前沿，叉号质量支配；外环是加入本批次记录耗时后的三目标前沿。前沿按均值计算，不是显著性检验。来源：docs/D_TO_E_HANDOFF_20261016.md；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图源为 analysis/dcu_20261015/paired_quality_effects.png 的 VOC 面板裁切。正值偏向行方法；星号对应 180 项质量比较族中的 Holm 校正，统计的是配对秩，不可解释为均值显著差。IG 的 AUC 均值在 ResNet50 / VGG16 更低；DenseNet121 的均值差 CI 跨零。 完整方法和口径见 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图源为 analysis/dcu_20261015/paired_quality_effects.png 的 VOC 面板裁切。正值偏向行方法；星号对应 180 项质量比较族中的 Holm 校正，统计的是配对秩，不可解释为均值显著差。IG 在三种模型的 AUC 均值均最低，但质量与稳定性仍要分开报告。 完整方法和口径见 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 analysis/dcu_20261015/faithfulness_stability_correlation.png。每个方法/模型/数据集内做相关分析，Pearson 和 Spearman 共 216 端点同族 Holm；此处展示 Spearman。正 rho 表示更大（更差）AUC 伴随更高稳定性。来源：docs/DCU_STATISTICAL_ANALYSIS_20261015.md。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 LIME 设置取 handoff 内 VOC/ResNet50 shard 配置：8,000 masks，batch32，sampling seed 42，Quickshift seed42，kernel_size4、max_dist200、ratio0.2、sigma0、convert2lab，exponential kernel width0.25，cosine distance，sample-weighted Ridge alpha1，cholesky，no feature selection；目标来自 metadata ground truth；输出 map CPU float32。稳定性按 RGB [0,1] Gaussian sigma0.005，5 repeats。统计结果是 model_correct n=387：raw AUC .52481，Spearman .76451，wrapper time 4218.50 ms。固定预算不等于收敛。来源：交接 ZIP configs/lime/lime-resnet50-voc__*/unit.yaml 与 protocol.yaml；docs/DCU_STATISTICAL_ANALYSIS_20261015.md；本页时间为共享 DCU 本批次记录，不做硬件效率解释。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三例都在冻结 predictions.csv 的 VOC / ResNet50 / eval / model_correct cohort。ID 215 是六方法指标名次的中心画像；3803 是 raw MoRF AUC 与稳定性名次分歧较大；7612 是正确组最低置信度。输入原图来自 data_share_v1(1).zip。地图包 dcu_cases_voc_resnet50_215_3803_7612.zip，SHA-256 a46fa18f447e104fc707451de4a03e8b2c2eb56679c15a675f6cc5aaacde9eb3；18 张 224x224 灰度 PNG、NPY、sidecar 与配置/协议哈希均已核验。PNG 是预览，定量值来自 float32 NPY。B 已复现支持三例，E 已在 Issue #22 确认并提交 Draft PR #26。逐图指标和配置见 deliverables/e_m5/case_candidates.csv、demo/cases.json。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本页是候选 image_id 215（VOC eval，真值 cat/7，ResNet50）的六方法正式 PNG 预览。统计指标沿用冻结逐图结果，不在本页重算；归档展示 PNG 为 224x224 grayscale，定量地图为 float32 NPY。来源包 dcu_cases_voc_resnet50_215_3803_7612.zip SHA-256 a46fa18f447e104fc707451de4a03e8b2c2eb56679c15a675f6cc5aaacde9eb3；每张 PNG、NPY、provenance sidecar、configuration、protocol、stability configuration 与 source archive hash 在 demo/cases.json。候选尚待 B 最终复核。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结论来源：docs/DCU_STATISTICAL_ANALYSIS_20261015.md、docs/D_TO_E_HANDOFF_20261016.md，以及 docs/D_M5_REPEATED_MEASURES_20261028.md（cc33be7）。10/28 阶段分析发现方法×模型交互；只适用于共同命中组与这三套冻结模型，并保留 VOC/AUC 具体 IG–KernelSHAP 差中差的区间敏感性。限制：计时来自共享负载两轮；VOC 是单目标 sigmoid argmax；LIME 8000 是固定预算而非收敛证明；Grad-CAM 退化按协议保留为0。数据集因子与完整三因素交互仍未完成。E 已确认并提交三例；独立 Demo 演练及最终冻结仍待完成。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7d9db3feb43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cdf6e606045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097a48bf24f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cbde03e6349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340a3e81a48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e4ba384ad42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43BA5E-0118-4BC3-B6BC-307D75A80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841D17-5014-4019-A742-725F540EDF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94897E-3A0E-47C7-A1C1-04BE74817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9CD5DD-340D-4C43-8269-E0167BC61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E3F2E6-0607-40DB-861C-58CBA83D8B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77F801-E8E3-44CF-913C-9F6912CBC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6A63AE-0ED0-44EA-AC79-095564155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13B1A0-D2CF-4D75-88DC-6047EDEEAD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6A4344-139F-4CB3-B84F-A8463BADD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A3F64C-ED0A-4039-91BB-DB880FF419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f3d8d2f84643df" /><Relationship Type="http://schemas.openxmlformats.org/officeDocument/2006/relationships/slideLayout" Target="/ppt/slideLayouts/slideLayout1.xml" Id="R94e2c480f0d447d5" /><Relationship Type="http://schemas.openxmlformats.org/officeDocument/2006/relationships/slideLayout" Target="/ppt/slideLayouts/slideLayout2.xml" Id="R337a0ca18cfb4400" /><Relationship Type="http://schemas.openxmlformats.org/officeDocument/2006/relationships/slideLayout" Target="/ppt/slideLayouts/slideLayout3.xml" Id="R8862146aa6a34a68" /><Relationship Type="http://schemas.openxmlformats.org/officeDocument/2006/relationships/slideLayout" Target="/ppt/slideLayouts/slideLayout4.xml" Id="Rac68b0b0b81946bb" /><Relationship Type="http://schemas.openxmlformats.org/officeDocument/2006/relationships/slideLayout" Target="/ppt/slideLayouts/slideLayout5.xml" Id="Rd333525445b04e32" /><Relationship Type="http://schemas.openxmlformats.org/officeDocument/2006/relationships/slideLayout" Target="/ppt/slideLayouts/slideLayout6.xml" Id="Rd078553b45e54b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e2c480f0d447d5"/>
    <p:sldLayoutId xmlns:r="http://schemas.openxmlformats.org/officeDocument/2006/relationships" id="2147483650" r:id="R337a0ca18cfb4400"/>
    <p:sldLayoutId xmlns:r="http://schemas.openxmlformats.org/officeDocument/2006/relationships" id="2147483651" r:id="R8862146aa6a34a68"/>
    <p:sldLayoutId xmlns:r="http://schemas.openxmlformats.org/officeDocument/2006/relationships" id="2147483652" r:id="Rac68b0b0b81946bb"/>
    <p:sldLayoutId xmlns:r="http://schemas.openxmlformats.org/officeDocument/2006/relationships" id="2147483653" r:id="Rd333525445b04e32"/>
    <p:sldLayoutId xmlns:r="http://schemas.openxmlformats.org/officeDocument/2006/relationships" id="2147483654" r:id="Rd078553b45e54b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f586725713406e" /><Relationship Type="http://schemas.openxmlformats.org/officeDocument/2006/relationships/notesSlide" Target="/ppt/notesSlides/notesSlide1.xml" Id="Rfbae2d600fa1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f6ceed84546f6" /><Relationship Type="http://schemas.openxmlformats.org/officeDocument/2006/relationships/notesSlide" Target="/ppt/notesSlides/notesSlide2.xml" Id="R56ababbdbe114d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a22a346834c69" /><Relationship Type="http://schemas.openxmlformats.org/officeDocument/2006/relationships/image" Target="/ppt/media/image.png" Id="R9f9677ab2b874d4e" /><Relationship Type="http://schemas.openxmlformats.org/officeDocument/2006/relationships/notesSlide" Target="/ppt/notesSlides/notesSlide3.xml" Id="R987d8f72a87d47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ab95035f44c91" /><Relationship Type="http://schemas.openxmlformats.org/officeDocument/2006/relationships/image" Target="/ppt/media/image2.png" Id="R5aadca4c218347de" /><Relationship Type="http://schemas.openxmlformats.org/officeDocument/2006/relationships/notesSlide" Target="/ppt/notesSlides/notesSlide4.xml" Id="R955c2ad8aa67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42d1216e24bde" /><Relationship Type="http://schemas.openxmlformats.org/officeDocument/2006/relationships/image" Target="/ppt/media/image3.png" Id="Rff297dc69b6644f1" /><Relationship Type="http://schemas.openxmlformats.org/officeDocument/2006/relationships/notesSlide" Target="/ppt/notesSlides/notesSlide5.xml" Id="R1caed32b361e4f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183bfd17c4143" /><Relationship Type="http://schemas.openxmlformats.org/officeDocument/2006/relationships/image" Target="/ppt/media/image4.png" Id="R6572a9d19d4e4e26" /><Relationship Type="http://schemas.openxmlformats.org/officeDocument/2006/relationships/notesSlide" Target="/ppt/notesSlides/notesSlide6.xml" Id="R0c88e6f637cb44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81af0d82e45aa" /><Relationship Type="http://schemas.openxmlformats.org/officeDocument/2006/relationships/image" Target="/ppt/media/image5.png" Id="Rd74f1a0836b04112" /><Relationship Type="http://schemas.openxmlformats.org/officeDocument/2006/relationships/notesSlide" Target="/ppt/notesSlides/notesSlide7.xml" Id="Reb8b05f7949746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8d22c46a24341" /><Relationship Type="http://schemas.openxmlformats.org/officeDocument/2006/relationships/image" Target="/ppt/media/image6.png" Id="R2675e459203c43e0" /><Relationship Type="http://schemas.openxmlformats.org/officeDocument/2006/relationships/notesSlide" Target="/ppt/notesSlides/notesSlide8.xml" Id="R5db2536c51f441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9eeeccea746b6" /><Relationship Type="http://schemas.openxmlformats.org/officeDocument/2006/relationships/notesSlide" Target="/ppt/notesSlides/notesSlide9.xml" Id="Rad4122b0e38944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f194f6f854bf7" /><Relationship Type="http://schemas.openxmlformats.org/officeDocument/2006/relationships/image" Target="/ppt/media/image.jpeg" Id="R1502cc3f669644a4" /><Relationship Type="http://schemas.openxmlformats.org/officeDocument/2006/relationships/image" Target="/ppt/media/image2.jpeg" Id="R66f960614b184066" /><Relationship Type="http://schemas.openxmlformats.org/officeDocument/2006/relationships/image" Target="/ppt/media/image3.jpeg" Id="R34ad5cc6ad7c4f0c" /><Relationship Type="http://schemas.openxmlformats.org/officeDocument/2006/relationships/notesSlide" Target="/ppt/notesSlides/notesSlide10.xml" Id="R159412bf269b4c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f1b8aefff43ae" /><Relationship Type="http://schemas.openxmlformats.org/officeDocument/2006/relationships/image" Target="/ppt/media/image4.jpeg" Id="R33392c6b81da4f49" /><Relationship Type="http://schemas.openxmlformats.org/officeDocument/2006/relationships/image" Target="/ppt/media/image7.png" Id="R6addebf067104efe" /><Relationship Type="http://schemas.openxmlformats.org/officeDocument/2006/relationships/image" Target="/ppt/media/image8.png" Id="R2174b132c5864e51" /><Relationship Type="http://schemas.openxmlformats.org/officeDocument/2006/relationships/image" Target="/ppt/media/image9.png" Id="Reee5eefc1c1b4f0a" /><Relationship Type="http://schemas.openxmlformats.org/officeDocument/2006/relationships/image" Target="/ppt/media/image10.png" Id="Rc05725a11cc94d20" /><Relationship Type="http://schemas.openxmlformats.org/officeDocument/2006/relationships/image" Target="/ppt/media/image11.png" Id="Rd415ccfe889e4ed5" /><Relationship Type="http://schemas.openxmlformats.org/officeDocument/2006/relationships/image" Target="/ppt/media/image12.png" Id="Rffc06066c3e541a7" /><Relationship Type="http://schemas.openxmlformats.org/officeDocument/2006/relationships/notesSlide" Target="/ppt/notesSlides/notesSlide11.xml" Id="R8651d76daca34d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bceed6a0f48d0" /><Relationship Type="http://schemas.openxmlformats.org/officeDocument/2006/relationships/notesSlide" Target="/ppt/notesSlides/notesSlide12.xml" Id="R61edad87b8c048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FF752-6644-46DD-98AA-95196B23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1D14C-1F65-4308-B02B-2BCDF9DD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C5652-D097-41A9-BCE4-36956EBA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rPr>
              <a:t>GO3-XAI01-04  /  M5 ·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00F44-EFCA-453B-9153-A9C52DA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六种视觉归因方法：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质量、稳定性与取舍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BE452-9C95-42F3-AF9F-4776731C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385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rPr>
              <a:t>汇总正式 DCU 评测证据，补齐真实同图案例与固定演示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7EA3C-8094-40AF-B65C-71C2E593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CEA38-EDB3-4A92-858F-AE28F846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30283-6245-45D2-BA51-D8BB249D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1162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00EF7-D227-45D6-975D-A8CE1EE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81475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Grad-CAM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A6B51-E172-4742-A69C-ADF22515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71950"/>
            <a:ext cx="1162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22F45-C2FF-4AD8-B10C-F9550EAB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Occlusion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3F617-E3F5-49EB-BF24-C6B65DDC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7195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B03D1-6513-4402-ACD6-5642894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814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RISE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63682-0EA3-4775-8C8A-EE8C8457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1333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D0CB9-61FE-4C78-9FA7-8BED6B4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81475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KernelSHAP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9DE8E-B6C9-4513-9186-BD9922F5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12573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6D8BE-57FF-426F-B3D0-B0F2F1C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LIME-8000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9E16E-69FD-4A40-B5D3-3F8C1A7B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rPr>
              <a:t>M5 展示工作稿 · 案例 215 / 3803 / 7612 已选定 · 18 张正式 PNG 预览已核验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B48BB-3A91-455F-A187-BAA6C849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rPr>
              <a:t>2026-10-29  |  正式统计 10/15 + 交互阶段分析 10/28</a:t>
            </a:r>
          </a:p>
        </p:txBody>
      </p:sp>
    </p:spTree>
    <p:extLst>
      <p:ext uri="{BB962C8B-B14F-4D97-AF65-F5344CB8AC3E}">
        <p14:creationId xmlns:p14="http://schemas.microsoft.com/office/powerpoint/2010/main" val="700341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466C7-B70E-4E20-ACD7-EB042D6B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STUDY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53CF8-6366-4A4F-BDDA-BB99F6B0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同一评测契约覆盖 36 个模型 × 数据 × 方法单元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889E7-9F72-4F3A-875B-DC6AE480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每个数据集 / 模型组合使用 460 张 eval 图；汇总主分析只看各模型命中样本。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E276B-6AC2-4497-B55E-60B1D0F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E945D-975E-4244-9A67-F2338601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1D8C8-0DEE-4627-AB5C-A7CF4163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E157F-9D22-45F6-8CC4-A95E22F7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6 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24910-A0AD-4759-AF90-258047AD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935D1-7AD4-47B5-8C25-717FA77F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A1DFB-A396-4800-A441-D0CCDD49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CNN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1C186-7DA1-4E32-833B-643F79E2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3 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E0F1E-C2CF-4B2F-87E2-E39DD4A7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12F25-5DBA-4DD1-A5F8-CD17099F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7A213-31E0-4B30-8AA1-9D810844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数据集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C5E90-764C-4813-B641-E81EE6DC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2 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C69B2-ABB2-4C69-9A59-A46A9692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889CB-85D2-4F67-A570-9FC4BC9C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7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EA473-07A5-4EDA-99C0-C3CD6CC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每单元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05C70-1E06-4FC3-8E01-8536A14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460 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63143-4131-4DE4-A74A-68F093F8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25D47-297D-44C2-AF3F-69CC8D3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固定图像与真值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856C9-C97A-47FA-B048-8E7EB5D7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eval split · 同图配对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D3790-3FA5-499F-A53F-53BD666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575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165"/>
          </a:bodyPr>
          <a:lstStyle xmlns:a="http://schemas.openxmlformats.org/drawingml/2006/main">
            <a:defPPr algn="ctr"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F1891-FB92-4C7A-B5D7-9139B207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69E0F-4522-4924-9F33-2DFECE79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六种归因图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12123-072E-48B1-B4D1-3DC9ED0B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38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同一模型权重 · 各自配置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56E37-531B-49AA-9978-DC32487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165"/>
          </a:bodyPr>
          <a:lstStyle xmlns:a="http://schemas.openxmlformats.org/drawingml/2006/main">
            <a:defPPr algn="ctr"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2006A-573C-448D-B613-56CEED24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38956-3901-4D0D-9E50-62B63616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三类证据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73F9C-9D57-4A16-8F47-34B4091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raw MoRF · 噪声稳定性 · 记录时间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645DE-3DB8-4D32-8A55-CBC2E1CB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744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09F216-6DF0-44A6-B8DF-1E8350DD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529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口径边界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E85433-4C54-4F48-95D4-55D3C3A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ImageNet 与 VOC 不横向比 raw AUC；VOC 的命中是冻结单目标的 sigmoid argmax，不是多标签 exact match 或 mAP。跨模型比较使用共同命中组。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973E0F-B31B-467B-AE94-0DCBD79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DA2E54-2E95-4A6D-974E-A6C23F7E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DEEBD2-81BB-4306-BBE8-DACCAC02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803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42065-0D49-480D-88E3-6A34BB2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RQ1 + RQ2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E9EE3-265C-4311-B268-1141511A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忠实性与稳定性并不总由同一种方法领先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2923B-88E4-43CB-ADA2-9303544B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均值误差线为类别分层 bootstrap 95% 边际 CI；耗时是归因 wrapper 记录值。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5B30B-1652-4B14-8956-4F6FCAB9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114681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CA13D-0A79-4705-9C2C-2399861BD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677ab2b874d4e"/>
          <a:stretch xmlns:a="http://schemas.openxmlformats.org/drawingml/2006/main"/>
        </p:blipFill>
        <p:spPr>
          <a:xfrm xmlns:a="http://schemas.openxmlformats.org/drawingml/2006/main">
            <a:off x="2135903" y="1428750"/>
            <a:ext cx="7920195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E1518-62DB-418F-B9B1-918C72B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12014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A473D-286F-4392-ABFF-915FED06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rPr>
              <a:t>读图：IG 在 6 组中的 5 组 AUC 均值最低；RISE 在 6 组中平均噪声稳定性最高。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F7218-3C47-45FB-98B5-491AD06A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8E60A-5ADB-4AEA-A81B-8BFC0103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8C042-B6FE-4E85-816A-F15EA693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729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42065-0D49-480D-88E3-6A34BB2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方法×模型阶段分析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E9EE3-265C-4311-B268-1141511A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共同命中组：方法表现随模型而变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2923B-88E4-43CB-ADA2-9303544B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同一批命中图像跨三种模型重复测量；误差线为类别分层 bootstrap 95% 边际 CI（不是 SD）。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5B30B-1652-4B14-8956-4F6FCAB9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114681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CA13D-0A79-4705-9C2C-2399861BD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dca4c218347de"/>
          <a:stretch xmlns:a="http://schemas.openxmlformats.org/drawingml/2006/main"/>
        </p:blipFill>
        <p:spPr>
          <a:xfrm xmlns:a="http://schemas.openxmlformats.org/drawingml/2006/main" flipH="0" flipV="0">
            <a:off x="2135903" y="1428750"/>
            <a:ext cx="7920195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E1518-62DB-418F-B9B1-918C72B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1201400" cy="29527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A473D-286F-4392-ABFF-915FED06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90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rPr>
              <a:t>交互（GG + Holm）：AUC 与稳定性在两数据集均 p_adj &lt; .001，不代表统一赢家。VOC/AUC 的 IG–KS 差中差对区间口径敏感：类分层 CI 不跨零，IID CI 跨零；秩 p_adj=.837。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F7218-3C47-45FB-98B5-491AD06A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8E60A-5ADB-4AEA-A81B-8BFC0103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8C042-B6FE-4E85-816A-F15EA693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729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FF887-1653-49F9-BE1C-1D84DF7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METHOD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A549D-DF20-4E2F-9552-7F764795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质量前沿随数据集和模型改变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2CC76-7FD2-4D85-B6F9-CBD30CA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横轴 raw MoRF AUC 越低越好；纵轴噪声 Spearman 越高越稳定。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E5113-9A17-4B82-ABE1-E5C51B7C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620125" cy="4905375"/>
          </a:xfrm>
          <a:prstGeom xmlns:a="http://schemas.openxmlformats.org/drawingml/2006/main" prst="roundRect">
            <a:avLst>
              <a:gd name="adj" fmla="val 23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84D15-542C-402B-A201-53A88CB44A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97dc69b6644f1"/>
          <a:stretch xmlns:a="http://schemas.openxmlformats.org/drawingml/2006/main"/>
        </p:blipFill>
        <p:spPr>
          <a:xfrm xmlns:a="http://schemas.openxmlformats.org/drawingml/2006/main">
            <a:off x="993790" y="1428750"/>
            <a:ext cx="7404071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E045F-0B9A-4CBA-A86E-A9CDFF6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3812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1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1A63F-D96C-4413-BD96-F0C87221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没有全局冠军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0990D-7CFC-498A-838A-DCE110AB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098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rPr>
              <a:t>各单元质量前沿包含 2–4 种方法。要按模型、数据和目标选择。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6768F-D981-49CA-AE8C-471A575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2381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75622-9823-4DDA-96F1-F876C4D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00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计时只作背景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D8FAE-189A-4439-825E-24F3BAC3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图中 3D 前沿使用本批次 wrapper ms；共享负载和不同实现路径限制了速度结论。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89897-B997-436E-8D4B-73419A6D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C29C5-26CE-40B5-B368-6C664A98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F0A58-DBD6-4E9B-8E0D-2A04B7D3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11327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50352-5EFD-40E7-BF33-9C27AE85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RQ1 · PAIRED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C58D4-26CA-4E63-8C98-2CF634C5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ImageNet：配对秩效应支持取舍，不等于均值差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1A939-4ED1-4F24-AEF6-AE8A07A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热图数字是配对 rank-biserial effect；正值偏向行方法。星号为 Holm 校正秩检验，不是均值检验。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AEB48-0E87-40F9-BEE1-E461CC4B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8477250" cy="4905375"/>
          </a:xfrm>
          <a:prstGeom xmlns:a="http://schemas.openxmlformats.org/drawingml/2006/main" prst="roundRect">
            <a:avLst>
              <a:gd name="adj" fmla="val 23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45FD0-A404-4852-B22F-F90128047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2a9d19d4e4e26"/>
          <a:stretch xmlns:a="http://schemas.openxmlformats.org/drawingml/2006/main"/>
        </p:blipFill>
        <p:spPr>
          <a:xfrm xmlns:a="http://schemas.openxmlformats.org/drawingml/2006/main">
            <a:off x="695420" y="1485900"/>
            <a:ext cx="774363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6DCB2-1E58-4AC7-BB36-C3B9137A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2619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9525">
            <a:solidFill>
              <a:srgbClr val="C9D9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54781-8434-48AC-896A-97E5FC9E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02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rPr>
              <a:t>怎么读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7E449-47F8-44B6-9F82-2A75BE0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蓝色正值：行方法占优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红色负值：列方法占优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数值是秩效应，不是均值差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06C16-F131-4339-A712-744FAA1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57575"/>
            <a:ext cx="2619375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5CA8A-F542-4C26-BCA5-BC44E02F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576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本页要点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205CB-620A-457D-923F-89F4E92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95750"/>
            <a:ext cx="22383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IG 的 AUC 均值在 ResNet50 / VGG16 更低；DenseNet121 的均值差 CI 跨零。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23EAB-8D6F-43D2-9F35-9402156C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26D6-50E5-446A-9B5D-DE8B8AA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E43DA-6577-4E82-A3F4-5CB1D29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0576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CCB98-F82F-4AD9-814F-489D3F5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RQ1 · PAIRED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CC999-DC4E-4B03-9141-F7E66687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VOC：单目标协议下，质量结论仍依赖模型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FBD62-6EBD-47FE-AD78-70AB19D8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VOC 结论仅适用于该冻结 target 协议；不外推为 VOC 多标签 mAP。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18A7-2067-4A7B-8A42-EB9FA7A7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8477250" cy="4905375"/>
          </a:xfrm>
          <a:prstGeom xmlns:a="http://schemas.openxmlformats.org/drawingml/2006/main" prst="roundRect">
            <a:avLst>
              <a:gd name="adj" fmla="val 23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271B-4F20-4421-B2E6-21F114961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f1a0836b04112"/>
          <a:stretch xmlns:a="http://schemas.openxmlformats.org/drawingml/2006/main"/>
        </p:blipFill>
        <p:spPr>
          <a:xfrm xmlns:a="http://schemas.openxmlformats.org/drawingml/2006/main">
            <a:off x="695420" y="1485900"/>
            <a:ext cx="774363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A5509-C753-4EC0-A652-0497EBCB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2619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9525">
            <a:solidFill>
              <a:srgbClr val="C9D9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2A79C-1764-4116-BEA6-5EDD87D4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02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rPr>
              <a:t>怎么读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0D7B1-0BC7-4E9B-9C05-9F8789D3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蓝色正值：行方法占优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红色负值：列方法占优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数值是秩效应，不是均值差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FCC04-FAF3-441B-9846-A3396A66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57575"/>
            <a:ext cx="2619375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AA11A-36A0-417B-AFB0-A4BCF553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576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本页要点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8A5C5-C316-4810-B9D7-DB8A8003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95750"/>
            <a:ext cx="22383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IG 在三种模型的 AUC 均值均最低，但质量与稳定性仍要分开报告。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38A4C-1112-46E6-B097-08F44474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96E73-04F1-4EE4-985C-E7828D2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23C49-9003-4505-A189-E6A8D011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752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578B-BCCE-48F7-B7EF-6D8EAF3D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RQ3 · EXPLORATORY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454E5-399C-4D58-80CD-4E60B6F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稳定性与忠实性之间没有简单单调关系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7FBD3-8984-4710-93DF-A225D33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Spearman 相关在每个方法 / 模型 / 数据集内计算；它不是因果分析。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65A3-6FFE-45BE-9A02-64B4B87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3342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D1416-A92A-44FE-AF85-915C53D33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5e459203c43e0"/>
          <a:stretch xmlns:a="http://schemas.openxmlformats.org/drawingml/2006/main"/>
        </p:blipFill>
        <p:spPr>
          <a:xfrm xmlns:a="http://schemas.openxmlformats.org/drawingml/2006/main">
            <a:off x="552450" y="1899963"/>
            <a:ext cx="7181850" cy="38581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434A2-2BF9-44A9-98E4-8131D11F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5242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BFE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E63F0-5324-4E1C-AD66-807D07C5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573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rPr>
              <a:t>显著相关不等于方法排名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16ADA-D5E4-40AE-892C-39E8386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相关方向在方法间不一致。AUC 越大代表忠实性越差；正相关表示较差 AUC 伴随更高稳定性。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CDC5D-908C-49AC-99BA-A642EEF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524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10C38-E917-4E6D-BC3E-9EAE626A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719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统计边界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27FF0-432B-4BEF-A687-19F2321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005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216 个 Pearson / Spearman 端点一起做 Holm 校正。该页用于描述关系，不支持机制或因果解释。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521C0-1CEE-4C3A-8AC9-56D31D9F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BB3DC-2344-47FF-80F5-507F31C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39049-D3CF-4C11-B50E-855372E6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30733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1BEE5-974A-4E10-94A1-B5A77428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E · LIME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98780-E625-4044-9715-61CE864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LIME：局部线性近似，正式比较预算为 8,000 个扰动样本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F7CC7-ECE7-446F-A966-5CECEDF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实现固定 Quickshift 分割、Bernoulli superpixel masks、核加权 Ridge，再把系数投影回像素。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51EC3-753F-4CAE-BE98-60C20979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DF277-AEDF-49FA-AC5F-95C3C10B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04DB8-CA48-42C5-BE42-2D7055C8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样本与批量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4F8EE-7FA3-41C6-AA3F-B0FE358F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33575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8,000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4450E-7C08-4C20-B0D9-D3D371AA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72CE0-A43E-45A3-A932-5F31207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12119-510E-49B1-A8BE-B439084C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分割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872C2-A780-4F81-BC66-BB30B39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Quickshift · seed 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522A-E97B-474B-81CB-4DB42819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9335A-2D91-49AE-AC00-6F9FE085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BA0F5-37A0-4D3A-8DE0-B5280E36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扰动核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E9D74-3CAB-4FCF-B16A-80A2689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exponential · width 0.25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4339C-9CA6-4F3C-9724-17AC9071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20670-7FD2-41E2-8AD3-B584C9C5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705B1-562C-4584-AA06-373D976D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回归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3EAF7-ED2A-4A32-8B1B-4D77CBBB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Ridge α=1 · all superpixels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9C7A1-3C17-4522-A293-C152E1B7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10871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B7E9E-6695-4735-9BC2-7DEE6F26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rPr>
              <a:t>VOC / ResNet50 · model-correct n = 387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D3929-3484-4AEB-97BD-4CF43D9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02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LIME-8000  raw AUC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0.52481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60DDD-ACF6-4B73-88AA-CFD2FBCC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910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02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噪声 Spearman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0.76451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D1A2D-001F-4815-A66F-F28E0F4C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91025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02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wrapper time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4,218.50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840274-251C-4BD1-8FC0-5FC967BD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rPr>
              <a:t>该固定预算不是收敛证明；同单元 IG 的平均 AUC 更低，RISE 的平均稳定性更高。计时不能视作跨 GPU 效率排名。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3F33E-73DB-4EA6-B09C-36FF4E3C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30A65-9DD9-47E5-A81F-2B8FEBE8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9A6F5-5810-4BF6-8039-B6C1DA8C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3091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7ECA1-E438-4732-B57B-824C8549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CASE GALLERY · MAPS VERIFIED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AC10B-75D8-4E4D-AE24-9131922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三张 eval 展示案例：绑定真值、指标与六方法正式图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662D0-5854-46D0-91CA-76CCBFD3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按可复现规则事后选图（非实验前预注册）；地图文件与来源哈希已核验。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B8D68-5B68-4F3B-BD91-C28FC8D0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57325"/>
            <a:ext cx="3619500" cy="4552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56F5-611B-4F8E-943A-57CFE304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image_id 215 · cat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3FECD-8CEB-4850-8568-59130A3473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2cc3f669644a4"/>
          <a:stretch xmlns:a="http://schemas.openxmlformats.org/drawingml/2006/main"/>
        </p:blipFill>
        <p:spPr>
          <a:xfrm xmlns:a="http://schemas.openxmlformats.org/drawingml/2006/main">
            <a:off x="1312862" y="2000250"/>
            <a:ext cx="1984375" cy="1857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FA3D4-15CB-4ADB-890B-DF9F3490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四指标名次画像匹配中位数（L1=0）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confidence 0.9662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6F59B-AABF-409E-B637-174FB1E6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最低 AUC：IG 0.450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最高稳定性：RISE 1.000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DD9F0-B81A-42ED-B0F9-BD7E28AB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0F245-EB4C-47EE-B02E-5EFA55ED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054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六方法正式图已核验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展示案例已确定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E4E4E-60F7-41A2-9A58-9CB75FA4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57325"/>
            <a:ext cx="3619500" cy="4552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D0052-255D-4D2B-9BE3-13060A7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9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image_id 3803 · bird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78BAA-5C6C-4F68-B3A9-ED3E57CE87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960614b184066"/>
          <a:stretch xmlns:a="http://schemas.openxmlformats.org/drawingml/2006/main"/>
        </p:blipFill>
        <p:spPr>
          <a:xfrm xmlns:a="http://schemas.openxmlformats.org/drawingml/2006/main">
            <a:off x="5418534" y="2000250"/>
            <a:ext cx="1393031" cy="18573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E0DD6-1134-4351-ACFB-587CF68D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名次差平方和 70，与 4675 并列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按较小 ID 选 3803 · conf 0.8687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D124B-BAA0-47B5-B4A7-A15116F6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815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最低 AUC：IG 0.611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最高稳定性：RISE 1.000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9C1D2-6C69-48D5-AFAD-909FAAE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4827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2823A-E4D0-4B5E-90DC-2A8FCD2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3054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六方法正式图已核验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展示案例已确定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0D20D-F9EC-4DD3-9EFF-9CB5C8E0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57325"/>
            <a:ext cx="3619500" cy="4552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943EA-98DF-4BF0-B922-CE59F429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9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image_id 7612 · dog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FB6AA-4B25-48B2-8D16-AA99931FE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d5cc6ad7c4f0c"/>
          <a:stretch xmlns:a="http://schemas.openxmlformats.org/drawingml/2006/main"/>
        </p:blipFill>
        <p:spPr>
          <a:xfrm xmlns:a="http://schemas.openxmlformats.org/drawingml/2006/main">
            <a:off x="9228534" y="2000250"/>
            <a:ext cx="1393031" cy="18573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814AD-BC86-41DA-9058-B02DE51D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387 张命中样本中置信度最低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0.5393 · 仍命中真值（非误分类）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ADD5B-49BC-4D52-B826-C296C5FA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最低 AUC：LIME 0.202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最高稳定性：RISE 0.999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8E354-E3E6-47CA-A93A-9DD4C75F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4827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14978-EFDF-4D81-8AD4-DDC56993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054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六方法正式图已核验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展示案例已确定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A6D0C-A6EE-469E-BB4D-373CCA61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44672-9765-4798-8000-3C81F74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B0455-94C9-4F34-85F5-B7038963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9000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map-slide-kicker">
            <a:extLst xmlns:a="http://schemas.openxmlformats.org/drawingml/2006/main">
              <a:ext uri="{FF2B5EF4-FFF2-40B4-BE49-F238E27FC236}">
                <a16:creationId xmlns:a16="http://schemas.microsoft.com/office/drawing/2014/main" id="{9ED02AA2-DC00-4842-956E-CC304880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SAME INPUT · OFFICIAL MAP PREVIEWS</a:t>
            </a:r>
          </a:p>
        </p:txBody>
      </p:sp>
      <p:sp>
        <p:nvSpPr>
          <p:cNvPr id="2" name="map-slide-title">
            <a:extLst xmlns:a="http://schemas.openxmlformats.org/drawingml/2006/main">
              <a:ext uri="{FF2B5EF4-FFF2-40B4-BE49-F238E27FC236}">
                <a16:creationId xmlns:a16="http://schemas.microsoft.com/office/drawing/2014/main" id="{B6CD5811-3333-49C0-8F09-B42B36F9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同一张 eval 图像的六方法归因预览</a:t>
            </a:r>
          </a:p>
        </p:txBody>
      </p:sp>
      <p:sp>
        <p:nvSpPr>
          <p:cNvPr id="3" name="map-slide-subtitle">
            <a:extLst xmlns:a="http://schemas.openxmlformats.org/drawingml/2006/main">
              <a:ext uri="{FF2B5EF4-FFF2-40B4-BE49-F238E27FC236}">
                <a16:creationId xmlns:a16="http://schemas.microsoft.com/office/drawing/2014/main" id="{89BBA31B-CC65-4DE3-89E4-E472E0FF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947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rPr>
              <a:t>VOC / ResNet50 · image_id 215 · 真值 cat (7) · confidence 0.9662 · 按中位名次画像规则选中（L1=0）</a:t>
            </a:r>
          </a:p>
        </p:txBody>
      </p:sp>
      <p:sp>
        <p:nvSpPr>
          <p:cNvPr id="4" name="map-slide-source-frame">
            <a:extLst xmlns:a="http://schemas.openxmlformats.org/drawingml/2006/main">
              <a:ext uri="{FF2B5EF4-FFF2-40B4-BE49-F238E27FC236}">
                <a16:creationId xmlns:a16="http://schemas.microsoft.com/office/drawing/2014/main" id="{E5DB0898-6535-41A4-91DD-8E6E0998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9075"/>
            <a:ext cx="14097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F85DD-AC45-4C10-9BC2-31AEBB92DD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92c6b81da4f49"/>
          <a:stretch xmlns:a="http://schemas.openxmlformats.org/drawingml/2006/main"/>
        </p:blipFill>
        <p:spPr>
          <a:xfrm xmlns:a="http://schemas.openxmlformats.org/drawingml/2006/main">
            <a:off x="10431503" y="257175"/>
            <a:ext cx="1139744" cy="1066800"/>
          </a:xfrm>
          <a:prstGeom xmlns:a="http://schemas.openxmlformats.org/drawingml/2006/main" prst="rect">
            <a:avLst/>
          </a:prstGeom>
        </p:spPr>
      </p:pic>
      <p:sp>
        <p:nvSpPr>
          <p:cNvPr id="6" name="map-card-ig">
            <a:extLst xmlns:a="http://schemas.openxmlformats.org/drawingml/2006/main">
              <a:ext uri="{FF2B5EF4-FFF2-40B4-BE49-F238E27FC236}">
                <a16:creationId xmlns:a16="http://schemas.microsoft.com/office/drawing/2014/main" id="{AB0F30AC-4C90-4911-9C42-E6BDD29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7" name="map-method-ig">
            <a:extLst xmlns:a="http://schemas.openxmlformats.org/drawingml/2006/main">
              <a:ext uri="{FF2B5EF4-FFF2-40B4-BE49-F238E27FC236}">
                <a16:creationId xmlns:a16="http://schemas.microsoft.com/office/drawing/2014/main" id="{8F3B9F58-BAC2-4721-83B1-8C73E2C3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IG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8D8DF-2383-4CC1-BA3C-A8ABF6513F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debf067104efe"/>
          <a:stretch xmlns:a="http://schemas.openxmlformats.org/drawingml/2006/main"/>
        </p:blipFill>
        <p:spPr>
          <a:xfrm xmlns:a="http://schemas.openxmlformats.org/drawingml/2006/main">
            <a:off x="657225" y="19621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9" name="map-metrics-ig">
            <a:extLst xmlns:a="http://schemas.openxmlformats.org/drawingml/2006/main">
              <a:ext uri="{FF2B5EF4-FFF2-40B4-BE49-F238E27FC236}">
                <a16:creationId xmlns:a16="http://schemas.microsoft.com/office/drawing/2014/main" id="{DB1FD009-7A62-4BBD-A1EC-D82C26F1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0.450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0.600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126.8 ms</a:t>
            </a:r>
          </a:p>
        </p:txBody>
      </p:sp>
      <p:sp>
        <p:nvSpPr>
          <p:cNvPr id="10" name="map-hashes-ig">
            <a:extLst xmlns:a="http://schemas.openxmlformats.org/drawingml/2006/main">
              <a:ext uri="{FF2B5EF4-FFF2-40B4-BE49-F238E27FC236}">
                <a16:creationId xmlns:a16="http://schemas.microsoft.com/office/drawing/2014/main" id="{CCFDE8CC-2141-4F27-B0D7-9A5C4119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146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20afbb394c1e…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91c129b468a1…</a:t>
            </a:r>
          </a:p>
        </p:txBody>
      </p:sp>
      <p:sp>
        <p:nvSpPr>
          <p:cNvPr id="11" name="map-card-gradcam">
            <a:extLst xmlns:a="http://schemas.openxmlformats.org/drawingml/2006/main">
              <a:ext uri="{FF2B5EF4-FFF2-40B4-BE49-F238E27FC236}">
                <a16:creationId xmlns:a16="http://schemas.microsoft.com/office/drawing/2014/main" id="{E8A341AF-00DE-42C0-9864-3830E04A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2" name="map-method-gradcam">
            <a:extLst xmlns:a="http://schemas.openxmlformats.org/drawingml/2006/main">
              <a:ext uri="{FF2B5EF4-FFF2-40B4-BE49-F238E27FC236}">
                <a16:creationId xmlns:a16="http://schemas.microsoft.com/office/drawing/2014/main" id="{CDFB6630-F32A-47EB-BA5A-13556B8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Grad-CAM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D2D32-0855-43C8-B59D-BA89C27A64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4b132c5864e51"/>
          <a:stretch xmlns:a="http://schemas.openxmlformats.org/drawingml/2006/main"/>
        </p:blipFill>
        <p:spPr>
          <a:xfrm xmlns:a="http://schemas.openxmlformats.org/drawingml/2006/main">
            <a:off x="4467225" y="19621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4" name="map-metrics-gradcam">
            <a:extLst xmlns:a="http://schemas.openxmlformats.org/drawingml/2006/main">
              <a:ext uri="{FF2B5EF4-FFF2-40B4-BE49-F238E27FC236}">
                <a16:creationId xmlns:a16="http://schemas.microsoft.com/office/drawing/2014/main" id="{8E77DB3A-A342-41E0-82AA-A7EF674A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0.610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0.998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24.4 ms</a:t>
            </a:r>
          </a:p>
        </p:txBody>
      </p:sp>
      <p:sp>
        <p:nvSpPr>
          <p:cNvPr id="15" name="map-hashes-gradcam">
            <a:extLst xmlns:a="http://schemas.openxmlformats.org/drawingml/2006/main">
              <a:ext uri="{FF2B5EF4-FFF2-40B4-BE49-F238E27FC236}">
                <a16:creationId xmlns:a16="http://schemas.microsoft.com/office/drawing/2014/main" id="{C3DDD057-3429-4BF5-A2BB-E74B4CDC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a74467edc833…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56f9fb5bb5d0…</a:t>
            </a:r>
          </a:p>
        </p:txBody>
      </p:sp>
      <p:sp>
        <p:nvSpPr>
          <p:cNvPr id="16" name="map-card-occlusion">
            <a:extLst xmlns:a="http://schemas.openxmlformats.org/drawingml/2006/main">
              <a:ext uri="{FF2B5EF4-FFF2-40B4-BE49-F238E27FC236}">
                <a16:creationId xmlns:a16="http://schemas.microsoft.com/office/drawing/2014/main" id="{08A49C7E-5F0B-4390-A499-DD82AA61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7" name="map-method-occlusion">
            <a:extLst xmlns:a="http://schemas.openxmlformats.org/drawingml/2006/main">
              <a:ext uri="{FF2B5EF4-FFF2-40B4-BE49-F238E27FC236}">
                <a16:creationId xmlns:a16="http://schemas.microsoft.com/office/drawing/2014/main" id="{349D2AD0-469C-4159-93F6-69DB5BF9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Occlusion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921D2-D54C-4798-B905-77E6CF3560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5eefc1c1b4f0a"/>
          <a:stretch xmlns:a="http://schemas.openxmlformats.org/drawingml/2006/main"/>
        </p:blipFill>
        <p:spPr>
          <a:xfrm xmlns:a="http://schemas.openxmlformats.org/drawingml/2006/main">
            <a:off x="8277225" y="19621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9" name="map-metrics-occlusion">
            <a:extLst xmlns:a="http://schemas.openxmlformats.org/drawingml/2006/main">
              <a:ext uri="{FF2B5EF4-FFF2-40B4-BE49-F238E27FC236}">
                <a16:creationId xmlns:a16="http://schemas.microsoft.com/office/drawing/2014/main" id="{32B5835E-F447-4D60-8914-04F1E0C8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0.861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0.846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148.4 ms</a:t>
            </a:r>
          </a:p>
        </p:txBody>
      </p:sp>
      <p:sp>
        <p:nvSpPr>
          <p:cNvPr id="20" name="map-hashes-occlusion">
            <a:extLst xmlns:a="http://schemas.openxmlformats.org/drawingml/2006/main">
              <a:ext uri="{FF2B5EF4-FFF2-40B4-BE49-F238E27FC236}">
                <a16:creationId xmlns:a16="http://schemas.microsoft.com/office/drawing/2014/main" id="{6572615A-6AC2-4E24-9666-E12CD71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146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299768c94752…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83eeca554762…</a:t>
            </a:r>
          </a:p>
        </p:txBody>
      </p:sp>
      <p:sp>
        <p:nvSpPr>
          <p:cNvPr id="21" name="map-card-rise">
            <a:extLst xmlns:a="http://schemas.openxmlformats.org/drawingml/2006/main">
              <a:ext uri="{FF2B5EF4-FFF2-40B4-BE49-F238E27FC236}">
                <a16:creationId xmlns:a16="http://schemas.microsoft.com/office/drawing/2014/main" id="{5E072430-7CC6-492A-BDB7-4224415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2" name="map-method-rise">
            <a:extLst xmlns:a="http://schemas.openxmlformats.org/drawingml/2006/main">
              <a:ext uri="{FF2B5EF4-FFF2-40B4-BE49-F238E27FC236}">
                <a16:creationId xmlns:a16="http://schemas.microsoft.com/office/drawing/2014/main" id="{986FC218-E708-4C8F-A135-A05E8AF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33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RISE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0E39D-28C8-4B63-AD5A-943F65A653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725a11cc94d20"/>
          <a:stretch xmlns:a="http://schemas.openxmlformats.org/drawingml/2006/main"/>
        </p:blipFill>
        <p:spPr>
          <a:xfrm xmlns:a="http://schemas.openxmlformats.org/drawingml/2006/main">
            <a:off x="657225" y="40767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4" name="map-metrics-rise">
            <a:extLst xmlns:a="http://schemas.openxmlformats.org/drawingml/2006/main">
              <a:ext uri="{FF2B5EF4-FFF2-40B4-BE49-F238E27FC236}">
                <a16:creationId xmlns:a16="http://schemas.microsoft.com/office/drawing/2014/main" id="{6C3E4668-5F12-46FE-A448-7356AD1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529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0.618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1.000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2179.3 ms</a:t>
            </a:r>
          </a:p>
        </p:txBody>
      </p:sp>
      <p:sp>
        <p:nvSpPr>
          <p:cNvPr id="25" name="map-hashes-rise">
            <a:extLst xmlns:a="http://schemas.openxmlformats.org/drawingml/2006/main">
              <a:ext uri="{FF2B5EF4-FFF2-40B4-BE49-F238E27FC236}">
                <a16:creationId xmlns:a16="http://schemas.microsoft.com/office/drawing/2014/main" id="{C3F843D2-BAAF-48E0-A587-51C17F87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92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b874a64e1a84…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83a2d6e6f0b2…</a:t>
            </a:r>
          </a:p>
        </p:txBody>
      </p:sp>
      <p:sp>
        <p:nvSpPr>
          <p:cNvPr id="26" name="map-card-kernelshap">
            <a:extLst xmlns:a="http://schemas.openxmlformats.org/drawingml/2006/main">
              <a:ext uri="{FF2B5EF4-FFF2-40B4-BE49-F238E27FC236}">
                <a16:creationId xmlns:a16="http://schemas.microsoft.com/office/drawing/2014/main" id="{292358ED-F769-49BC-9761-3598860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1950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7" name="map-method-kernelshap">
            <a:extLst xmlns:a="http://schemas.openxmlformats.org/drawingml/2006/main">
              <a:ext uri="{FF2B5EF4-FFF2-40B4-BE49-F238E27FC236}">
                <a16:creationId xmlns:a16="http://schemas.microsoft.com/office/drawing/2014/main" id="{0A81BD9F-815B-4722-906C-A35A9727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33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KernelSHAP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B9968-0F86-4AE4-BEF2-571171EC95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5ccfe889e4ed5"/>
          <a:stretch xmlns:a="http://schemas.openxmlformats.org/drawingml/2006/main"/>
        </p:blipFill>
        <p:spPr>
          <a:xfrm xmlns:a="http://schemas.openxmlformats.org/drawingml/2006/main">
            <a:off x="4467225" y="40767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9" name="map-metrics-kernelshap">
            <a:extLst xmlns:a="http://schemas.openxmlformats.org/drawingml/2006/main">
              <a:ext uri="{FF2B5EF4-FFF2-40B4-BE49-F238E27FC236}">
                <a16:creationId xmlns:a16="http://schemas.microsoft.com/office/drawing/2014/main" id="{655C49F6-C056-436C-B066-5887B52D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529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0.559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0.992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2166.2 ms</a:t>
            </a:r>
          </a:p>
        </p:txBody>
      </p:sp>
      <p:sp>
        <p:nvSpPr>
          <p:cNvPr id="30" name="map-hashes-kernelshap">
            <a:extLst xmlns:a="http://schemas.openxmlformats.org/drawingml/2006/main">
              <a:ext uri="{FF2B5EF4-FFF2-40B4-BE49-F238E27FC236}">
                <a16:creationId xmlns:a16="http://schemas.microsoft.com/office/drawing/2014/main" id="{E10345B0-2C2F-460D-9451-4D81042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3161f305ad4f…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52cebc5ce45f…</a:t>
            </a:r>
          </a:p>
        </p:txBody>
      </p:sp>
      <p:sp>
        <p:nvSpPr>
          <p:cNvPr id="31" name="map-card-lime">
            <a:extLst xmlns:a="http://schemas.openxmlformats.org/drawingml/2006/main">
              <a:ext uri="{FF2B5EF4-FFF2-40B4-BE49-F238E27FC236}">
                <a16:creationId xmlns:a16="http://schemas.microsoft.com/office/drawing/2014/main" id="{048A5692-06C9-4710-9F9F-01BC421D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2" name="map-method-lime">
            <a:extLst xmlns:a="http://schemas.openxmlformats.org/drawingml/2006/main">
              <a:ext uri="{FF2B5EF4-FFF2-40B4-BE49-F238E27FC236}">
                <a16:creationId xmlns:a16="http://schemas.microsoft.com/office/drawing/2014/main" id="{622D2F8F-A284-4F35-8E5A-66C5761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33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LIME-8000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502927-3CE3-4CA9-905A-2F9D37979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06066c3e541a7"/>
          <a:stretch xmlns:a="http://schemas.openxmlformats.org/drawingml/2006/main"/>
        </p:blipFill>
        <p:spPr>
          <a:xfrm xmlns:a="http://schemas.openxmlformats.org/drawingml/2006/main">
            <a:off x="8277225" y="40767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34" name="map-metrics-lime">
            <a:extLst xmlns:a="http://schemas.openxmlformats.org/drawingml/2006/main">
              <a:ext uri="{FF2B5EF4-FFF2-40B4-BE49-F238E27FC236}">
                <a16:creationId xmlns:a16="http://schemas.microsoft.com/office/drawing/2014/main" id="{48EA8DB1-699C-406D-882A-7E99467E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529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0.563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0.725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4212.6 ms</a:t>
            </a:r>
          </a:p>
        </p:txBody>
      </p:sp>
      <p:sp>
        <p:nvSpPr>
          <p:cNvPr id="35" name="map-hashes-lime">
            <a:extLst xmlns:a="http://schemas.openxmlformats.org/drawingml/2006/main">
              <a:ext uri="{FF2B5EF4-FFF2-40B4-BE49-F238E27FC236}">
                <a16:creationId xmlns:a16="http://schemas.microsoft.com/office/drawing/2014/main" id="{F9545EC2-18F5-4FA9-A261-E7EA3F0C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292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4102085d8ed8…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cf21ef209907…</a:t>
            </a:r>
          </a:p>
        </p:txBody>
      </p:sp>
      <p:sp>
        <p:nvSpPr>
          <p:cNvPr id="36" name="map-slide-note">
            <a:extLst xmlns:a="http://schemas.openxmlformats.org/drawingml/2006/main">
              <a:ext uri="{FF2B5EF4-FFF2-40B4-BE49-F238E27FC236}">
                <a16:creationId xmlns:a16="http://schemas.microsoft.com/office/drawing/2014/main" id="{7B36D3F2-7B61-4188-A493-F39942D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91200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rPr>
              <a:t>PNG 为归档提供的灰度预览；不按灰度强度跨方法排序。定量结果来自 float32 NPY；完整 SHA、sidecar 与配置索引见固定 Demo。</a:t>
            </a:r>
          </a:p>
        </p:txBody>
      </p:sp>
      <p:sp>
        <p:nvSpPr>
          <p:cNvPr id="37" name="map-slide-footer-rule">
            <a:extLst xmlns:a="http://schemas.openxmlformats.org/drawingml/2006/main">
              <a:ext uri="{FF2B5EF4-FFF2-40B4-BE49-F238E27FC236}">
                <a16:creationId xmlns:a16="http://schemas.microsoft.com/office/drawing/2014/main" id="{2B3EC499-0CDB-4D62-8427-8EE3580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38" name="map-slide-footer">
            <a:extLst xmlns:a="http://schemas.openxmlformats.org/drawingml/2006/main">
              <a:ext uri="{FF2B5EF4-FFF2-40B4-BE49-F238E27FC236}">
                <a16:creationId xmlns:a16="http://schemas.microsoft.com/office/drawing/2014/main" id="{4079DF55-83FD-4A0C-BCC5-40892A06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39" name="map-slide-page-number">
            <a:extLst xmlns:a="http://schemas.openxmlformats.org/drawingml/2006/main">
              <a:ext uri="{FF2B5EF4-FFF2-40B4-BE49-F238E27FC236}">
                <a16:creationId xmlns:a16="http://schemas.microsoft.com/office/drawing/2014/main" id="{15AE9E29-8130-44CC-A6F1-624F9D27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</a:pPr>
            <a:r>
              <a: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51456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485BB-6C09-411E-955B-FA7CB767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3270E-6C81-4E7F-BEFA-50813383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答辩结论：按目标选方法，展示图必须带来源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6E7AC-108E-45CB-8BB4-8E13E8E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三例已确认并提交 PR #26；独立环境演练与最终结论冻结仍待完成。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AEAAC-1275-4575-8921-F13F3E79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B6192-DBDB-4D71-9662-D8BAF8B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1011A-776A-4BC4-9E99-11082A76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IG 的平均 raw MoRF AUC 在六组中的五组最低；ImageNet / DenseNet121 是例外，均值差 CI 跨零。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99D89-329E-43EF-BC2D-9442EC0A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1001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B37BD-F6B2-4154-9A53-FF17345D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3C0D0-9699-484C-9064-6C68637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RISE 的平均噪声稳定性在六组均最高；稳定不等于忠实性最佳。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05E53-5F0C-4C3B-9DAC-696DDA4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11001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4C9AF-CA09-42FF-B37A-6D63EDBD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781DE-7944-4881-A4E2-4490684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质量前沿随数据与模型改变；没有跨指标、跨单元的统一冠军。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D7F3A-A4A7-4979-A2A9-3822C8C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1001375" cy="1209675"/>
          </a:xfrm>
          <a:prstGeom xmlns:a="http://schemas.openxmlformats.org/drawingml/2006/main" prst="roundRect">
            <a:avLst>
              <a:gd name="adj" fmla="val 944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FC195-6BD0-46D7-8855-17EDBF5F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展示验收仍有两项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F0FC2-BF2D-467D-A271-1AE8760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三例与选择规则已确认，Draft PR #26 已创建。独立演练仍待记录原图及每例 6/6 地图加载；D 的数据集因子与完整三因素统计未完成。Demo 只含正式 PNG 预览与来源哈希，不含完整 NPY、数据集或权重。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36BEB-3E64-4FF5-BBF0-CFEB2AA5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5D9C5-5B2A-4B57-98C4-6E541D3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7A90-D3AF-4292-8953-68400290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9567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2026-10-29T04:35:54.7450000Z</dcterms:created>
  <dcterms:modified xsi:type="dcterms:W3CDTF">2026-10-29T04:35:54.7450000Z</dcterms:modified>
</coreProperties>
</file>